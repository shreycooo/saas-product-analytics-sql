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7" r:id="rId12"/>
    <p:sldId id="269" r:id="rId13"/>
    <p:sldId id="270" r:id="rId14"/>
    <p:sldId id="271" r:id="rId15"/>
    <p:sldId id="272" r:id="rId16"/>
    <p:sldId id="273" r:id="rId17"/>
    <p:sldId id="274" r:id="rId18"/>
    <p:sldId id="275" r:id="rId19"/>
    <p:sldId id="276" r:id="rId20"/>
    <p:sldId id="27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FCFC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319E13-3660-1249-8476-E6B302BDB393}" v="2" dt="2026-05-14T17:02:13.3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029"/>
    <p:restoredTop sz="94635"/>
  </p:normalViewPr>
  <p:slideViewPr>
    <p:cSldViewPr snapToGrid="0">
      <p:cViewPr varScale="1">
        <p:scale>
          <a:sx n="83" d="100"/>
          <a:sy n="83" d="100"/>
        </p:scale>
        <p:origin x="216" y="8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042F00-8183-3D44-A20A-FC930D0E9E83}" type="datetimeFigureOut">
              <a:rPr lang="en-US" smtClean="0"/>
              <a:t>5/15/26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1789F-8287-404C-8AE3-A65913469530}" type="slidenum">
              <a:rPr lang="en-US" smtClean="0"/>
              <a:t>‹#›</a:t>
            </a:fld>
            <a:endParaRPr lang="en-US" dirty="0"/>
          </a:p>
        </p:txBody>
      </p:sp>
    </p:spTree>
    <p:extLst>
      <p:ext uri="{BB962C8B-B14F-4D97-AF65-F5344CB8AC3E}">
        <p14:creationId xmlns:p14="http://schemas.microsoft.com/office/powerpoint/2010/main" val="3238611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6D39-EA47-145A-2916-09865040647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14059AC-3767-0952-6400-C7F2288E43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CDA45DB-340B-0A50-7CCA-315EF4C9FECB}"/>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5" name="Footer Placeholder 4">
            <a:extLst>
              <a:ext uri="{FF2B5EF4-FFF2-40B4-BE49-F238E27FC236}">
                <a16:creationId xmlns:a16="http://schemas.microsoft.com/office/drawing/2014/main" id="{94D2C56E-351E-3253-C9BE-91CE8662F4B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502D073-351C-F01A-1213-57B5B3DC9E93}"/>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2406068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3616D-3A1A-5AD8-A024-15D9DDE65F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B821A41-CE29-4CDD-6737-F17ABAF81E2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21F19F8-455C-FFDF-97BE-2BE40147DF5D}"/>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5" name="Footer Placeholder 4">
            <a:extLst>
              <a:ext uri="{FF2B5EF4-FFF2-40B4-BE49-F238E27FC236}">
                <a16:creationId xmlns:a16="http://schemas.microsoft.com/office/drawing/2014/main" id="{61BF758B-2F15-223D-8200-5F699843A63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3094591-857B-767D-6A9F-758F2A657C8C}"/>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9532304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C34C1-96EA-11C7-F265-91B58DC71E2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5490754-3F72-43F5-AD19-B6B51454DFA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EE60BFE-32CA-D6FF-7D9A-1FE027D3A5AB}"/>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5" name="Footer Placeholder 4">
            <a:extLst>
              <a:ext uri="{FF2B5EF4-FFF2-40B4-BE49-F238E27FC236}">
                <a16:creationId xmlns:a16="http://schemas.microsoft.com/office/drawing/2014/main" id="{3DB72A09-5EFD-C897-AD54-1B996330C9F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C3334B8-B0CA-202F-44E0-B13E8AC8ADC4}"/>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39143276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86910-6D92-C4A7-B656-ABF79AD2031E}"/>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1EBEABB-6FDE-E538-5CA1-524D697E2A6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29AE34B-08A0-949D-5919-3E700645E25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6594A98-60AB-C803-0D70-9293E5114812}"/>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6" name="Footer Placeholder 5">
            <a:extLst>
              <a:ext uri="{FF2B5EF4-FFF2-40B4-BE49-F238E27FC236}">
                <a16:creationId xmlns:a16="http://schemas.microsoft.com/office/drawing/2014/main" id="{3E39EF3A-5525-57D4-324D-42E65CADFA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7F395F8-AD20-B6F8-9A1D-CCB0A0C8F8C1}"/>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2792331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BB193-177B-EC2C-F398-B942A7CC1A8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BEAB019-D6B6-2780-A807-937A149356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08073D8-031E-DFCA-8770-1FA20ADCEB6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32B44C3-08C0-2FF5-D251-2FC15C7A1F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D361A7E-703D-59AA-BA79-013429B453D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F409BF4D-18F7-F7D6-BA9F-AE264703254C}"/>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8" name="Footer Placeholder 7">
            <a:extLst>
              <a:ext uri="{FF2B5EF4-FFF2-40B4-BE49-F238E27FC236}">
                <a16:creationId xmlns:a16="http://schemas.microsoft.com/office/drawing/2014/main" id="{958F9A19-52B1-0EF1-2223-8F399406402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9BE08699-5503-404F-72BD-50F2AF92E7CE}"/>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243747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657E0-A0C5-2AF3-7D6F-525AD3049E4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D58305F-1093-E8C2-CB5D-84753C936766}"/>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4" name="Footer Placeholder 3">
            <a:extLst>
              <a:ext uri="{FF2B5EF4-FFF2-40B4-BE49-F238E27FC236}">
                <a16:creationId xmlns:a16="http://schemas.microsoft.com/office/drawing/2014/main" id="{AEAD00B8-80B8-95E2-1D18-D5DF3B1A102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6FC45BFF-AD41-B2D5-D96F-2E754DAA5BC9}"/>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2989842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C55CCE-8EE9-FDAA-CC01-4DA99C28C0BC}"/>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3" name="Footer Placeholder 2">
            <a:extLst>
              <a:ext uri="{FF2B5EF4-FFF2-40B4-BE49-F238E27FC236}">
                <a16:creationId xmlns:a16="http://schemas.microsoft.com/office/drawing/2014/main" id="{CDD19B04-F2C6-9CE1-FF77-4EF7C4579120}"/>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2AC47F72-4D35-41E3-6399-C50C4DC806DD}"/>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2958369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3C8F6-A539-23E5-37DE-5FF0D568807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77DA752E-2930-CD7D-F9A9-CDA824DD9B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ED736D3-5F68-CA7E-251A-4CE0E48DEF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3A17C32-CA9F-3C32-DC83-7B74262B5F6F}"/>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6" name="Footer Placeholder 5">
            <a:extLst>
              <a:ext uri="{FF2B5EF4-FFF2-40B4-BE49-F238E27FC236}">
                <a16:creationId xmlns:a16="http://schemas.microsoft.com/office/drawing/2014/main" id="{CB2C9DB0-2054-FD10-F2D3-E4DD44C83CB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46FB363-B683-4055-4EDB-CB1D1EEED9EC}"/>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2823070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F22DB-481A-B3B9-D0A5-FC20ECCE20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BC92914C-A278-3712-A6E9-99C4C3D860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2B74CAAA-27F8-6145-9FCA-B2001899AA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3363D8-1870-24DE-395F-FE80770DD671}"/>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6" name="Footer Placeholder 5">
            <a:extLst>
              <a:ext uri="{FF2B5EF4-FFF2-40B4-BE49-F238E27FC236}">
                <a16:creationId xmlns:a16="http://schemas.microsoft.com/office/drawing/2014/main" id="{FF24439F-16B7-5476-7423-1ADF333557C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60C8A6-9830-83CF-E3FD-9835214BE01C}"/>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6886385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7C684-C443-9B50-2C62-90FFE90CE7A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053CF00-09FB-E4CB-8031-1AE3F1F58EF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A77B8E7-D2A2-C283-C3DF-96AD41B5D19C}"/>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5" name="Footer Placeholder 4">
            <a:extLst>
              <a:ext uri="{FF2B5EF4-FFF2-40B4-BE49-F238E27FC236}">
                <a16:creationId xmlns:a16="http://schemas.microsoft.com/office/drawing/2014/main" id="{275D3EB0-0C5D-958D-3843-25253A79143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F9CC5AD-5A7F-63C2-047D-9DB65CF51FD4}"/>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4204594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1D4C41-B9D9-C7F6-B0FF-37A7C2D279C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CDDABD9-2EF1-106E-D95E-6DF467FE509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B7AFC2-7172-0407-072E-048D75CE71E2}"/>
              </a:ext>
            </a:extLst>
          </p:cNvPr>
          <p:cNvSpPr>
            <a:spLocks noGrp="1"/>
          </p:cNvSpPr>
          <p:nvPr>
            <p:ph type="dt" sz="half" idx="10"/>
          </p:nvPr>
        </p:nvSpPr>
        <p:spPr/>
        <p:txBody>
          <a:bodyPr/>
          <a:lstStyle/>
          <a:p>
            <a:fld id="{FAD1CCBC-C570-E44A-982E-F0D03794CC82}" type="datetimeFigureOut">
              <a:rPr lang="en-US" smtClean="0"/>
              <a:t>5/15/26</a:t>
            </a:fld>
            <a:endParaRPr lang="en-US" dirty="0"/>
          </a:p>
        </p:txBody>
      </p:sp>
      <p:sp>
        <p:nvSpPr>
          <p:cNvPr id="5" name="Footer Placeholder 4">
            <a:extLst>
              <a:ext uri="{FF2B5EF4-FFF2-40B4-BE49-F238E27FC236}">
                <a16:creationId xmlns:a16="http://schemas.microsoft.com/office/drawing/2014/main" id="{6C22DBC6-B99A-6B6C-39BB-2CF51B1056F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8629D0-1CFA-953F-1544-FBE1D84D5F22}"/>
              </a:ext>
            </a:extLst>
          </p:cNvPr>
          <p:cNvSpPr>
            <a:spLocks noGrp="1"/>
          </p:cNvSpPr>
          <p:nvPr>
            <p:ph type="sldNum" sz="quarter" idx="12"/>
          </p:nvPr>
        </p:nvSpPr>
        <p:spPr/>
        <p:txBody>
          <a:bodyPr/>
          <a:lstStyle/>
          <a:p>
            <a:fld id="{3DBA7055-2BD2-B54C-A38C-F0D5AAA8F674}" type="slidenum">
              <a:rPr lang="en-US" smtClean="0"/>
              <a:t>‹#›</a:t>
            </a:fld>
            <a:endParaRPr lang="en-US" dirty="0"/>
          </a:p>
        </p:txBody>
      </p:sp>
    </p:spTree>
    <p:extLst>
      <p:ext uri="{BB962C8B-B14F-4D97-AF65-F5344CB8AC3E}">
        <p14:creationId xmlns:p14="http://schemas.microsoft.com/office/powerpoint/2010/main" val="3175730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45000"/>
            <a:grayscl/>
            <a:extLst>
              <a:ext uri="{BEBA8EAE-BF5A-486C-A8C5-ECC9F3942E4B}">
                <a14:imgProps xmlns:a14="http://schemas.microsoft.com/office/drawing/2010/main">
                  <a14:imgLayer r:embed="rId14">
                    <a14:imgEffect>
                      <a14:colorTemperature colorTemp="11500"/>
                    </a14:imgEffect>
                    <a14:imgEffect>
                      <a14:saturation sat="27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0AB4C2-310F-655A-1CC4-D554414531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66143AE-2665-7150-3FC2-FCB0922E63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B5070D3-D315-408F-6FA8-6224651A27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D1CCBC-C570-E44A-982E-F0D03794CC82}" type="datetimeFigureOut">
              <a:rPr lang="en-US" smtClean="0"/>
              <a:t>5/15/26</a:t>
            </a:fld>
            <a:endParaRPr lang="en-US" dirty="0"/>
          </a:p>
        </p:txBody>
      </p:sp>
      <p:sp>
        <p:nvSpPr>
          <p:cNvPr id="5" name="Footer Placeholder 4">
            <a:extLst>
              <a:ext uri="{FF2B5EF4-FFF2-40B4-BE49-F238E27FC236}">
                <a16:creationId xmlns:a16="http://schemas.microsoft.com/office/drawing/2014/main" id="{5F3F7812-EA0F-F30A-62C4-A7AB9C5D89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4F0BEC65-F516-21CF-E55F-C8270ECF47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BA7055-2BD2-B54C-A38C-F0D5AAA8F674}" type="slidenum">
              <a:rPr lang="en-US" smtClean="0"/>
              <a:t>‹#›</a:t>
            </a:fld>
            <a:endParaRPr lang="en-US" dirty="0"/>
          </a:p>
        </p:txBody>
      </p:sp>
    </p:spTree>
    <p:extLst>
      <p:ext uri="{BB962C8B-B14F-4D97-AF65-F5344CB8AC3E}">
        <p14:creationId xmlns:p14="http://schemas.microsoft.com/office/powerpoint/2010/main" val="36741209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999A7-F6C4-A330-540A-4E52851E3FDD}"/>
              </a:ext>
            </a:extLst>
          </p:cNvPr>
          <p:cNvSpPr>
            <a:spLocks noGrp="1"/>
          </p:cNvSpPr>
          <p:nvPr>
            <p:ph type="ctrTitle"/>
          </p:nvPr>
        </p:nvSpPr>
        <p:spPr>
          <a:xfrm>
            <a:off x="1524000" y="-472776"/>
            <a:ext cx="9144000" cy="2387600"/>
          </a:xfrm>
        </p:spPr>
        <p:txBody>
          <a:bodyPr>
            <a:normAutofit/>
          </a:bodyPr>
          <a:lstStyle/>
          <a:p>
            <a:r>
              <a:rPr lang="en-US" sz="3600" b="1" dirty="0">
                <a:latin typeface="Calibri" panose="020F0502020204030204" pitchFamily="34" charset="0"/>
                <a:cs typeface="Calibri" panose="020F0502020204030204" pitchFamily="34" charset="0"/>
              </a:rPr>
              <a:t>SaaS Product Analytics Case Study</a:t>
            </a:r>
          </a:p>
        </p:txBody>
      </p:sp>
      <p:sp>
        <p:nvSpPr>
          <p:cNvPr id="3" name="Subtitle 2">
            <a:extLst>
              <a:ext uri="{FF2B5EF4-FFF2-40B4-BE49-F238E27FC236}">
                <a16:creationId xmlns:a16="http://schemas.microsoft.com/office/drawing/2014/main" id="{A2B28DD2-42F0-7968-409E-C961EC360AE7}"/>
              </a:ext>
            </a:extLst>
          </p:cNvPr>
          <p:cNvSpPr>
            <a:spLocks noGrp="1"/>
          </p:cNvSpPr>
          <p:nvPr>
            <p:ph type="subTitle" idx="1"/>
          </p:nvPr>
        </p:nvSpPr>
        <p:spPr>
          <a:xfrm>
            <a:off x="1411459" y="2079882"/>
            <a:ext cx="9144000" cy="1655762"/>
          </a:xfrm>
        </p:spPr>
        <p:txBody>
          <a:bodyPr>
            <a:normAutofit/>
          </a:bodyPr>
          <a:lstStyle/>
          <a:p>
            <a:r>
              <a:rPr lang="en-US" sz="2000" b="1" dirty="0">
                <a:solidFill>
                  <a:schemeClr val="bg1">
                    <a:lumMod val="50000"/>
                  </a:schemeClr>
                </a:solidFill>
                <a:latin typeface="Calibri" panose="020F0502020204030204" pitchFamily="34" charset="0"/>
                <a:cs typeface="Calibri" panose="020F0502020204030204" pitchFamily="34" charset="0"/>
              </a:rPr>
              <a:t>SaaS Behavior • Revenue • Retention Analysis using SQL</a:t>
            </a:r>
          </a:p>
        </p:txBody>
      </p:sp>
      <p:sp>
        <p:nvSpPr>
          <p:cNvPr id="4" name="TextBox 3">
            <a:extLst>
              <a:ext uri="{FF2B5EF4-FFF2-40B4-BE49-F238E27FC236}">
                <a16:creationId xmlns:a16="http://schemas.microsoft.com/office/drawing/2014/main" id="{A4FFFFB1-10DB-F03F-999D-0034AAD5512B}"/>
              </a:ext>
            </a:extLst>
          </p:cNvPr>
          <p:cNvSpPr txBox="1"/>
          <p:nvPr/>
        </p:nvSpPr>
        <p:spPr>
          <a:xfrm>
            <a:off x="675249" y="4572745"/>
            <a:ext cx="4052969" cy="400110"/>
          </a:xfrm>
          <a:prstGeom prst="rect">
            <a:avLst/>
          </a:prstGeom>
          <a:noFill/>
        </p:spPr>
        <p:txBody>
          <a:bodyPr wrap="none" rtlCol="0">
            <a:spAutoFit/>
          </a:bodyPr>
          <a:lstStyle/>
          <a:p>
            <a:r>
              <a:rPr lang="en-US" sz="2000" i="1" dirty="0">
                <a:solidFill>
                  <a:schemeClr val="bg2">
                    <a:lumMod val="50000"/>
                  </a:schemeClr>
                </a:solidFill>
                <a:latin typeface="Calibri" panose="020F0502020204030204" pitchFamily="34" charset="0"/>
                <a:cs typeface="Calibri" panose="020F0502020204030204" pitchFamily="34" charset="0"/>
              </a:rPr>
              <a:t>Built using PostgreSQL • SQL • Excel </a:t>
            </a:r>
          </a:p>
        </p:txBody>
      </p:sp>
      <p:sp>
        <p:nvSpPr>
          <p:cNvPr id="5" name="TextBox 4">
            <a:extLst>
              <a:ext uri="{FF2B5EF4-FFF2-40B4-BE49-F238E27FC236}">
                <a16:creationId xmlns:a16="http://schemas.microsoft.com/office/drawing/2014/main" id="{A16746C3-2BB9-5C26-5FBD-48EA6A3F8FEA}"/>
              </a:ext>
            </a:extLst>
          </p:cNvPr>
          <p:cNvSpPr txBox="1"/>
          <p:nvPr/>
        </p:nvSpPr>
        <p:spPr>
          <a:xfrm>
            <a:off x="675249" y="5809956"/>
            <a:ext cx="2999475" cy="646331"/>
          </a:xfrm>
          <a:prstGeom prst="rect">
            <a:avLst/>
          </a:prstGeom>
          <a:noFill/>
        </p:spPr>
        <p:txBody>
          <a:bodyPr wrap="none" rtlCol="0">
            <a:spAutoFit/>
          </a:bodyPr>
          <a:lstStyle/>
          <a:p>
            <a:r>
              <a:rPr lang="en-US" dirty="0">
                <a:solidFill>
                  <a:schemeClr val="bg2">
                    <a:lumMod val="50000"/>
                  </a:schemeClr>
                </a:solidFill>
                <a:latin typeface="Calibri" panose="020F0502020204030204" pitchFamily="34" charset="0"/>
                <a:cs typeface="Calibri" panose="020F0502020204030204" pitchFamily="34" charset="0"/>
              </a:rPr>
              <a:t>Prepared by: Shreya Chauhan</a:t>
            </a:r>
          </a:p>
          <a:p>
            <a:r>
              <a:rPr lang="en-US" dirty="0">
                <a:solidFill>
                  <a:schemeClr val="bg2">
                    <a:lumMod val="50000"/>
                  </a:schemeClr>
                </a:solidFill>
                <a:latin typeface="Calibri" panose="020F0502020204030204" pitchFamily="34" charset="0"/>
                <a:cs typeface="Calibri" panose="020F0502020204030204" pitchFamily="34" charset="0"/>
              </a:rPr>
              <a:t>May 2026</a:t>
            </a:r>
          </a:p>
        </p:txBody>
      </p:sp>
      <p:sp>
        <p:nvSpPr>
          <p:cNvPr id="7" name="TextBox 6">
            <a:extLst>
              <a:ext uri="{FF2B5EF4-FFF2-40B4-BE49-F238E27FC236}">
                <a16:creationId xmlns:a16="http://schemas.microsoft.com/office/drawing/2014/main" id="{758EBC5B-D89D-107F-FF3E-3D1FDA2E38F9}"/>
              </a:ext>
            </a:extLst>
          </p:cNvPr>
          <p:cNvSpPr txBox="1"/>
          <p:nvPr/>
        </p:nvSpPr>
        <p:spPr>
          <a:xfrm>
            <a:off x="872197" y="351692"/>
            <a:ext cx="184731" cy="369332"/>
          </a:xfrm>
          <a:prstGeom prst="rect">
            <a:avLst/>
          </a:prstGeom>
          <a:noFill/>
        </p:spPr>
        <p:txBody>
          <a:bodyPr wrap="square" rtlCol="0">
            <a:spAutoFit/>
          </a:bodyPr>
          <a:lstStyle/>
          <a:p>
            <a:endParaRPr lang="en-US" dirty="0"/>
          </a:p>
        </p:txBody>
      </p:sp>
      <p:cxnSp>
        <p:nvCxnSpPr>
          <p:cNvPr id="10" name="Straight Connector 9">
            <a:extLst>
              <a:ext uri="{FF2B5EF4-FFF2-40B4-BE49-F238E27FC236}">
                <a16:creationId xmlns:a16="http://schemas.microsoft.com/office/drawing/2014/main" id="{9418D402-31BD-4A87-DAD1-5E4CF4342CB4}"/>
              </a:ext>
            </a:extLst>
          </p:cNvPr>
          <p:cNvCxnSpPr/>
          <p:nvPr/>
        </p:nvCxnSpPr>
        <p:spPr>
          <a:xfrm>
            <a:off x="0" y="550425"/>
            <a:ext cx="12192000"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pic>
        <p:nvPicPr>
          <p:cNvPr id="12" name="Graphic 11">
            <a:extLst>
              <a:ext uri="{FF2B5EF4-FFF2-40B4-BE49-F238E27FC236}">
                <a16:creationId xmlns:a16="http://schemas.microsoft.com/office/drawing/2014/main" id="{5E6EE702-EE70-5C3B-F225-794E25C62B23}"/>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85616" y="4421908"/>
            <a:ext cx="646332" cy="646332"/>
          </a:xfrm>
          <a:prstGeom prst="rect">
            <a:avLst/>
          </a:prstGeom>
        </p:spPr>
      </p:pic>
    </p:spTree>
    <p:extLst>
      <p:ext uri="{BB962C8B-B14F-4D97-AF65-F5344CB8AC3E}">
        <p14:creationId xmlns:p14="http://schemas.microsoft.com/office/powerpoint/2010/main" val="4279339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D4129A-6DA7-18F8-5AA7-9DD040AECF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82A75C-1F6A-0EE6-D86A-57937313E250}"/>
              </a:ext>
            </a:extLst>
          </p:cNvPr>
          <p:cNvSpPr>
            <a:spLocks noGrp="1"/>
          </p:cNvSpPr>
          <p:nvPr>
            <p:ph type="ctrTitle"/>
          </p:nvPr>
        </p:nvSpPr>
        <p:spPr>
          <a:xfrm>
            <a:off x="1524000" y="-1072446"/>
            <a:ext cx="9144000" cy="2387600"/>
          </a:xfrm>
        </p:spPr>
        <p:txBody>
          <a:bodyPr>
            <a:normAutofit/>
          </a:bodyPr>
          <a:lstStyle/>
          <a:p>
            <a:r>
              <a:rPr lang="en-US" sz="3600" b="1" dirty="0">
                <a:latin typeface="Calibri" panose="020F0502020204030204" pitchFamily="34" charset="0"/>
                <a:cs typeface="Calibri" panose="020F0502020204030204" pitchFamily="34" charset="0"/>
              </a:rPr>
              <a:t>ABSTRACT</a:t>
            </a:r>
          </a:p>
        </p:txBody>
      </p:sp>
      <p:sp>
        <p:nvSpPr>
          <p:cNvPr id="3" name="Subtitle 2">
            <a:extLst>
              <a:ext uri="{FF2B5EF4-FFF2-40B4-BE49-F238E27FC236}">
                <a16:creationId xmlns:a16="http://schemas.microsoft.com/office/drawing/2014/main" id="{5FC0BD05-66A6-8C24-90F8-F03B1ECB8479}"/>
              </a:ext>
            </a:extLst>
          </p:cNvPr>
          <p:cNvSpPr>
            <a:spLocks noGrp="1"/>
          </p:cNvSpPr>
          <p:nvPr>
            <p:ph type="subTitle" idx="1"/>
          </p:nvPr>
        </p:nvSpPr>
        <p:spPr>
          <a:xfrm>
            <a:off x="1524000" y="1513887"/>
            <a:ext cx="9144000" cy="3673803"/>
          </a:xfrm>
        </p:spPr>
        <p:txBody>
          <a:bodyPr>
            <a:noAutofit/>
          </a:bodyPr>
          <a:lstStyle/>
          <a:p>
            <a:r>
              <a:rPr lang="en-IN" dirty="0">
                <a:latin typeface="Bell MT" panose="02020503060305020303" pitchFamily="18" charset="77"/>
                <a:ea typeface="Ayuthaya" pitchFamily="2" charset="-34"/>
                <a:cs typeface="Ayuthaya" pitchFamily="2" charset="-34"/>
              </a:rPr>
              <a:t>This project analyses a simulated SaaS subscription platform dataset to study customer lifecycle behaviour across revenue, feature engagement, support interactions, retention, and churn. Using PostgreSQL and relational data modelling, the analysis explores how user activity, subscription movement, product adoption, and support experience influence business growth and long-term customer retention across the platform.</a:t>
            </a:r>
          </a:p>
          <a:p>
            <a:endParaRPr lang="en-IN" dirty="0">
              <a:latin typeface="Bell MT" panose="02020503060305020303" pitchFamily="18" charset="77"/>
              <a:ea typeface="Ayuthaya" pitchFamily="2" charset="-34"/>
              <a:cs typeface="Ayuthaya" pitchFamily="2" charset="-34"/>
            </a:endParaRPr>
          </a:p>
          <a:p>
            <a:r>
              <a:rPr lang="en-IN" b="1" dirty="0">
                <a:latin typeface="Bell MT" panose="02020503060305020303" pitchFamily="18" charset="77"/>
                <a:ea typeface="Ayuthaya" pitchFamily="2" charset="-34"/>
                <a:cs typeface="Ayuthaya" pitchFamily="2" charset="-34"/>
              </a:rPr>
              <a:t>The goal of this analysis is to identify behavioural patterns such as engagement intensity, beta feature adoption, and product friction, and evaluate how these factors influence upgrades, downgrades, churn, and overall platform growth.</a:t>
            </a:r>
          </a:p>
        </p:txBody>
      </p:sp>
      <p:sp>
        <p:nvSpPr>
          <p:cNvPr id="7" name="TextBox 6">
            <a:extLst>
              <a:ext uri="{FF2B5EF4-FFF2-40B4-BE49-F238E27FC236}">
                <a16:creationId xmlns:a16="http://schemas.microsoft.com/office/drawing/2014/main" id="{B79AA3B5-4489-B482-A513-7CB9E5FE8E19}"/>
              </a:ext>
            </a:extLst>
          </p:cNvPr>
          <p:cNvSpPr txBox="1"/>
          <p:nvPr/>
        </p:nvSpPr>
        <p:spPr>
          <a:xfrm>
            <a:off x="872197" y="351692"/>
            <a:ext cx="184731" cy="369332"/>
          </a:xfrm>
          <a:prstGeom prst="rect">
            <a:avLst/>
          </a:prstGeom>
          <a:noFill/>
        </p:spPr>
        <p:txBody>
          <a:bodyPr wrap="square" rtlCol="0">
            <a:spAutoFit/>
          </a:bodyPr>
          <a:lstStyle/>
          <a:p>
            <a:endParaRPr lang="en-US" dirty="0"/>
          </a:p>
        </p:txBody>
      </p:sp>
      <p:cxnSp>
        <p:nvCxnSpPr>
          <p:cNvPr id="10" name="Straight Connector 9">
            <a:extLst>
              <a:ext uri="{FF2B5EF4-FFF2-40B4-BE49-F238E27FC236}">
                <a16:creationId xmlns:a16="http://schemas.microsoft.com/office/drawing/2014/main" id="{CE16D841-3EB7-B5F0-03C9-3C872C2B1F1D}"/>
              </a:ext>
            </a:extLst>
          </p:cNvPr>
          <p:cNvCxnSpPr/>
          <p:nvPr/>
        </p:nvCxnSpPr>
        <p:spPr>
          <a:xfrm>
            <a:off x="0" y="550425"/>
            <a:ext cx="12192000"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2256858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3CCD62F-4290-9FE2-C7FF-9A72B0742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E69FCE-6BFC-54DF-8BF8-1DEF28C72A77}"/>
              </a:ext>
            </a:extLst>
          </p:cNvPr>
          <p:cNvSpPr>
            <a:spLocks noGrp="1"/>
          </p:cNvSpPr>
          <p:nvPr>
            <p:ph type="ctrTitle"/>
          </p:nvPr>
        </p:nvSpPr>
        <p:spPr>
          <a:xfrm>
            <a:off x="0" y="-1072446"/>
            <a:ext cx="10668000" cy="2387600"/>
          </a:xfrm>
        </p:spPr>
        <p:txBody>
          <a:bodyPr>
            <a:normAutofit/>
          </a:bodyPr>
          <a:lstStyle/>
          <a:p>
            <a:pPr algn="l"/>
            <a:r>
              <a:rPr lang="en-IN" sz="3600" b="1" dirty="0">
                <a:latin typeface="Calibri" panose="020F0502020204030204" pitchFamily="34" charset="0"/>
                <a:cs typeface="Calibri" panose="020F0502020204030204" pitchFamily="34" charset="0"/>
              </a:rPr>
              <a:t>Dataset Overview</a:t>
            </a:r>
            <a:endParaRPr lang="en-US" sz="36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CD646945-A0F4-55B4-667C-CA63C261BE0B}"/>
              </a:ext>
            </a:extLst>
          </p:cNvPr>
          <p:cNvSpPr txBox="1"/>
          <p:nvPr/>
        </p:nvSpPr>
        <p:spPr>
          <a:xfrm>
            <a:off x="872197" y="351692"/>
            <a:ext cx="184731" cy="369332"/>
          </a:xfrm>
          <a:prstGeom prst="rect">
            <a:avLst/>
          </a:prstGeom>
          <a:noFill/>
        </p:spPr>
        <p:txBody>
          <a:bodyPr wrap="square" rtlCol="0">
            <a:spAutoFit/>
          </a:bodyPr>
          <a:lstStyle/>
          <a:p>
            <a:endParaRPr lang="en-US" dirty="0"/>
          </a:p>
        </p:txBody>
      </p:sp>
      <p:cxnSp>
        <p:nvCxnSpPr>
          <p:cNvPr id="10" name="Straight Connector 9">
            <a:extLst>
              <a:ext uri="{FF2B5EF4-FFF2-40B4-BE49-F238E27FC236}">
                <a16:creationId xmlns:a16="http://schemas.microsoft.com/office/drawing/2014/main" id="{14A70BAD-5282-E362-DA87-8C821B677F72}"/>
              </a:ext>
            </a:extLst>
          </p:cNvPr>
          <p:cNvCxnSpPr/>
          <p:nvPr/>
        </p:nvCxnSpPr>
        <p:spPr>
          <a:xfrm>
            <a:off x="0" y="550425"/>
            <a:ext cx="12192000"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FA645283-D719-E771-C54F-19A722AC4EA0}"/>
              </a:ext>
            </a:extLst>
          </p:cNvPr>
          <p:cNvSpPr txBox="1"/>
          <p:nvPr/>
        </p:nvSpPr>
        <p:spPr>
          <a:xfrm>
            <a:off x="0" y="1287516"/>
            <a:ext cx="2723823" cy="400110"/>
          </a:xfrm>
          <a:prstGeom prst="rect">
            <a:avLst/>
          </a:prstGeom>
          <a:noFill/>
        </p:spPr>
        <p:txBody>
          <a:bodyPr wrap="none" rtlCol="0">
            <a:spAutoFit/>
          </a:bodyPr>
          <a:lstStyle/>
          <a:p>
            <a:r>
              <a:rPr lang="en-US" sz="2000" i="1" dirty="0">
                <a:latin typeface="Consolas" panose="020B0609020204030204" pitchFamily="49" charset="0"/>
                <a:cs typeface="Consolas" panose="020B0609020204030204" pitchFamily="49" charset="0"/>
              </a:rPr>
              <a:t>Contents of Tables</a:t>
            </a:r>
          </a:p>
        </p:txBody>
      </p:sp>
      <p:sp>
        <p:nvSpPr>
          <p:cNvPr id="8" name="TextBox 7">
            <a:extLst>
              <a:ext uri="{FF2B5EF4-FFF2-40B4-BE49-F238E27FC236}">
                <a16:creationId xmlns:a16="http://schemas.microsoft.com/office/drawing/2014/main" id="{69DCEF28-BFBB-2986-20D5-1A67C5BA95E6}"/>
              </a:ext>
            </a:extLst>
          </p:cNvPr>
          <p:cNvSpPr txBox="1"/>
          <p:nvPr/>
        </p:nvSpPr>
        <p:spPr>
          <a:xfrm>
            <a:off x="3649994" y="1869149"/>
            <a:ext cx="4560929" cy="461665"/>
          </a:xfrm>
          <a:prstGeom prst="rect">
            <a:avLst/>
          </a:prstGeom>
          <a:noFill/>
        </p:spPr>
        <p:txBody>
          <a:bodyPr wrap="none" rtlCol="0">
            <a:spAutoFit/>
          </a:bodyPr>
          <a:lstStyle/>
          <a:p>
            <a:pPr algn="ctr"/>
            <a:r>
              <a:rPr lang="en-US" sz="2400" b="1" dirty="0">
                <a:latin typeface="Calibri" panose="020F0502020204030204" pitchFamily="34" charset="0"/>
                <a:cs typeface="Calibri" panose="020F0502020204030204" pitchFamily="34" charset="0"/>
              </a:rPr>
              <a:t>Syntax: Select * FROM tablename;</a:t>
            </a:r>
          </a:p>
        </p:txBody>
      </p:sp>
      <p:sp>
        <p:nvSpPr>
          <p:cNvPr id="9" name="TextBox 8">
            <a:extLst>
              <a:ext uri="{FF2B5EF4-FFF2-40B4-BE49-F238E27FC236}">
                <a16:creationId xmlns:a16="http://schemas.microsoft.com/office/drawing/2014/main" id="{26A9B125-9AE3-3F6F-0229-167F26E5F0B0}"/>
              </a:ext>
            </a:extLst>
          </p:cNvPr>
          <p:cNvSpPr txBox="1"/>
          <p:nvPr/>
        </p:nvSpPr>
        <p:spPr>
          <a:xfrm>
            <a:off x="5167589" y="2506998"/>
            <a:ext cx="1573571" cy="369332"/>
          </a:xfrm>
          <a:prstGeom prst="rect">
            <a:avLst/>
          </a:prstGeom>
          <a:noFill/>
        </p:spPr>
        <p:txBody>
          <a:bodyPr wrap="none" rtlCol="0">
            <a:spAutoFit/>
          </a:bodyPr>
          <a:lstStyle/>
          <a:p>
            <a:pPr algn="ctr"/>
            <a:r>
              <a:rPr lang="en-US" dirty="0"/>
              <a:t>1. Accounts :  </a:t>
            </a:r>
          </a:p>
        </p:txBody>
      </p:sp>
      <p:pic>
        <p:nvPicPr>
          <p:cNvPr id="1028" name="Picture 4">
            <a:extLst>
              <a:ext uri="{FF2B5EF4-FFF2-40B4-BE49-F238E27FC236}">
                <a16:creationId xmlns:a16="http://schemas.microsoft.com/office/drawing/2014/main" id="{6F43E5D7-75FC-3CC2-1600-A165C881B9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0443" y="2938025"/>
            <a:ext cx="9791114" cy="238758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DB9C8B25-4239-7A02-66AC-61488D721D07}"/>
              </a:ext>
            </a:extLst>
          </p:cNvPr>
          <p:cNvSpPr txBox="1"/>
          <p:nvPr/>
        </p:nvSpPr>
        <p:spPr>
          <a:xfrm>
            <a:off x="5391849" y="5458265"/>
            <a:ext cx="1077219" cy="369332"/>
          </a:xfrm>
          <a:prstGeom prst="rect">
            <a:avLst/>
          </a:prstGeom>
          <a:noFill/>
        </p:spPr>
        <p:txBody>
          <a:bodyPr wrap="none" rtlCol="0">
            <a:spAutoFit/>
          </a:bodyPr>
          <a:lstStyle/>
          <a:p>
            <a:pPr algn="ctr"/>
            <a:r>
              <a:rPr lang="en-US" dirty="0"/>
              <a:t>500 rows</a:t>
            </a:r>
          </a:p>
        </p:txBody>
      </p:sp>
    </p:spTree>
    <p:extLst>
      <p:ext uri="{BB962C8B-B14F-4D97-AF65-F5344CB8AC3E}">
        <p14:creationId xmlns:p14="http://schemas.microsoft.com/office/powerpoint/2010/main" val="51951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C1EB03C-8500-1A19-5C5C-313E147355F3}"/>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DEA3E8CD-F897-FE4B-55AB-A66ABB88AAD5}"/>
              </a:ext>
            </a:extLst>
          </p:cNvPr>
          <p:cNvSpPr txBox="1"/>
          <p:nvPr/>
        </p:nvSpPr>
        <p:spPr>
          <a:xfrm>
            <a:off x="872197" y="351692"/>
            <a:ext cx="184731" cy="369332"/>
          </a:xfrm>
          <a:prstGeom prst="rect">
            <a:avLst/>
          </a:prstGeom>
          <a:noFill/>
        </p:spPr>
        <p:txBody>
          <a:bodyPr wrap="square" rtlCol="0">
            <a:spAutoFit/>
          </a:bodyPr>
          <a:lstStyle/>
          <a:p>
            <a:endParaRPr lang="en-US" dirty="0"/>
          </a:p>
        </p:txBody>
      </p:sp>
      <p:cxnSp>
        <p:nvCxnSpPr>
          <p:cNvPr id="10" name="Straight Connector 9">
            <a:extLst>
              <a:ext uri="{FF2B5EF4-FFF2-40B4-BE49-F238E27FC236}">
                <a16:creationId xmlns:a16="http://schemas.microsoft.com/office/drawing/2014/main" id="{BC204A4F-0BCD-1E55-1F3E-5DC5BA4F0F48}"/>
              </a:ext>
            </a:extLst>
          </p:cNvPr>
          <p:cNvCxnSpPr/>
          <p:nvPr/>
        </p:nvCxnSpPr>
        <p:spPr>
          <a:xfrm>
            <a:off x="0" y="550425"/>
            <a:ext cx="12192000"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3ADB9C93-CFA0-AD75-BD57-8A95CC484782}"/>
              </a:ext>
            </a:extLst>
          </p:cNvPr>
          <p:cNvSpPr txBox="1"/>
          <p:nvPr/>
        </p:nvSpPr>
        <p:spPr>
          <a:xfrm>
            <a:off x="5093960" y="611159"/>
            <a:ext cx="2004075" cy="369332"/>
          </a:xfrm>
          <a:prstGeom prst="rect">
            <a:avLst/>
          </a:prstGeom>
          <a:noFill/>
        </p:spPr>
        <p:txBody>
          <a:bodyPr wrap="none" rtlCol="0">
            <a:spAutoFit/>
          </a:bodyPr>
          <a:lstStyle/>
          <a:p>
            <a:pPr algn="ctr"/>
            <a:r>
              <a:rPr lang="en-US" dirty="0"/>
              <a:t>2. Subscriptions :  </a:t>
            </a:r>
          </a:p>
        </p:txBody>
      </p:sp>
      <p:pic>
        <p:nvPicPr>
          <p:cNvPr id="3076" name="Picture 4">
            <a:extLst>
              <a:ext uri="{FF2B5EF4-FFF2-40B4-BE49-F238E27FC236}">
                <a16:creationId xmlns:a16="http://schemas.microsoft.com/office/drawing/2014/main" id="{23126B31-EAAE-DE5D-C520-984926C110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5249" y="1023412"/>
            <a:ext cx="10719582" cy="22238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51AE2E1-3754-A4E0-D59E-22197A644128}"/>
              </a:ext>
            </a:extLst>
          </p:cNvPr>
          <p:cNvSpPr txBox="1"/>
          <p:nvPr/>
        </p:nvSpPr>
        <p:spPr>
          <a:xfrm>
            <a:off x="5408430" y="3290133"/>
            <a:ext cx="1245587" cy="369332"/>
          </a:xfrm>
          <a:prstGeom prst="rect">
            <a:avLst/>
          </a:prstGeom>
          <a:noFill/>
        </p:spPr>
        <p:txBody>
          <a:bodyPr wrap="square" rtlCol="0">
            <a:spAutoFit/>
          </a:bodyPr>
          <a:lstStyle/>
          <a:p>
            <a:pPr algn="ctr"/>
            <a:r>
              <a:rPr lang="en-US" dirty="0"/>
              <a:t>5000 rows</a:t>
            </a:r>
          </a:p>
        </p:txBody>
      </p:sp>
      <p:sp>
        <p:nvSpPr>
          <p:cNvPr id="14" name="TextBox 13">
            <a:extLst>
              <a:ext uri="{FF2B5EF4-FFF2-40B4-BE49-F238E27FC236}">
                <a16:creationId xmlns:a16="http://schemas.microsoft.com/office/drawing/2014/main" id="{E3A638F1-CD4B-2060-09CF-309D6C4B95BE}"/>
              </a:ext>
            </a:extLst>
          </p:cNvPr>
          <p:cNvSpPr txBox="1"/>
          <p:nvPr/>
        </p:nvSpPr>
        <p:spPr>
          <a:xfrm>
            <a:off x="3043307" y="3720198"/>
            <a:ext cx="6105378" cy="369332"/>
          </a:xfrm>
          <a:prstGeom prst="rect">
            <a:avLst/>
          </a:prstGeom>
          <a:noFill/>
        </p:spPr>
        <p:txBody>
          <a:bodyPr wrap="square">
            <a:spAutoFit/>
          </a:bodyPr>
          <a:lstStyle/>
          <a:p>
            <a:pPr algn="ctr"/>
            <a:r>
              <a:rPr lang="en-US" dirty="0"/>
              <a:t>3. Feature_usage</a:t>
            </a:r>
          </a:p>
        </p:txBody>
      </p:sp>
      <p:pic>
        <p:nvPicPr>
          <p:cNvPr id="3078" name="Picture 6">
            <a:extLst>
              <a:ext uri="{FF2B5EF4-FFF2-40B4-BE49-F238E27FC236}">
                <a16:creationId xmlns:a16="http://schemas.microsoft.com/office/drawing/2014/main" id="{C544EDAE-4381-4952-9F37-D36A0EAED7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18" y="4083775"/>
            <a:ext cx="11296356" cy="222380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1C622B4-3DA8-2EB7-56ED-6B8A6560122A}"/>
              </a:ext>
            </a:extLst>
          </p:cNvPr>
          <p:cNvSpPr txBox="1"/>
          <p:nvPr/>
        </p:nvSpPr>
        <p:spPr>
          <a:xfrm>
            <a:off x="5433956" y="6307575"/>
            <a:ext cx="1324080" cy="369332"/>
          </a:xfrm>
          <a:prstGeom prst="rect">
            <a:avLst/>
          </a:prstGeom>
          <a:noFill/>
        </p:spPr>
        <p:txBody>
          <a:bodyPr wrap="none" rtlCol="0">
            <a:spAutoFit/>
          </a:bodyPr>
          <a:lstStyle/>
          <a:p>
            <a:r>
              <a:rPr lang="en-US" dirty="0"/>
              <a:t>25000 rows</a:t>
            </a:r>
          </a:p>
        </p:txBody>
      </p:sp>
    </p:spTree>
    <p:extLst>
      <p:ext uri="{BB962C8B-B14F-4D97-AF65-F5344CB8AC3E}">
        <p14:creationId xmlns:p14="http://schemas.microsoft.com/office/powerpoint/2010/main" val="27443710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18E78B-64F7-0707-DC4B-75021D982147}"/>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ABD9945-2DBD-E14A-CDBE-1FE6D152B609}"/>
              </a:ext>
            </a:extLst>
          </p:cNvPr>
          <p:cNvSpPr txBox="1"/>
          <p:nvPr/>
        </p:nvSpPr>
        <p:spPr>
          <a:xfrm>
            <a:off x="872197" y="351692"/>
            <a:ext cx="184731" cy="369332"/>
          </a:xfrm>
          <a:prstGeom prst="rect">
            <a:avLst/>
          </a:prstGeom>
          <a:noFill/>
        </p:spPr>
        <p:txBody>
          <a:bodyPr wrap="square" rtlCol="0">
            <a:spAutoFit/>
          </a:bodyPr>
          <a:lstStyle/>
          <a:p>
            <a:endParaRPr lang="en-US" dirty="0"/>
          </a:p>
        </p:txBody>
      </p:sp>
      <p:cxnSp>
        <p:nvCxnSpPr>
          <p:cNvPr id="10" name="Straight Connector 9">
            <a:extLst>
              <a:ext uri="{FF2B5EF4-FFF2-40B4-BE49-F238E27FC236}">
                <a16:creationId xmlns:a16="http://schemas.microsoft.com/office/drawing/2014/main" id="{364030DC-E382-F20E-F975-257C9011F32C}"/>
              </a:ext>
            </a:extLst>
          </p:cNvPr>
          <p:cNvCxnSpPr/>
          <p:nvPr/>
        </p:nvCxnSpPr>
        <p:spPr>
          <a:xfrm>
            <a:off x="0" y="550425"/>
            <a:ext cx="12192000" cy="0"/>
          </a:xfrm>
          <a:prstGeom prst="line">
            <a:avLst/>
          </a:prstGeom>
          <a:ln>
            <a:solidFill>
              <a:schemeClr val="tx1">
                <a:lumMod val="65000"/>
                <a:lumOff val="35000"/>
              </a:schemeClr>
            </a:solidFill>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BAE92A36-7F39-088F-248E-6279D552CD78}"/>
              </a:ext>
            </a:extLst>
          </p:cNvPr>
          <p:cNvSpPr txBox="1"/>
          <p:nvPr/>
        </p:nvSpPr>
        <p:spPr>
          <a:xfrm>
            <a:off x="5021828" y="611159"/>
            <a:ext cx="2148345" cy="369332"/>
          </a:xfrm>
          <a:prstGeom prst="rect">
            <a:avLst/>
          </a:prstGeom>
          <a:noFill/>
        </p:spPr>
        <p:txBody>
          <a:bodyPr wrap="none" rtlCol="0">
            <a:spAutoFit/>
          </a:bodyPr>
          <a:lstStyle/>
          <a:p>
            <a:pPr algn="ctr"/>
            <a:r>
              <a:rPr lang="en-US" dirty="0"/>
              <a:t>4. Support_tickets:  </a:t>
            </a:r>
          </a:p>
        </p:txBody>
      </p:sp>
      <p:sp>
        <p:nvSpPr>
          <p:cNvPr id="4" name="TextBox 3">
            <a:extLst>
              <a:ext uri="{FF2B5EF4-FFF2-40B4-BE49-F238E27FC236}">
                <a16:creationId xmlns:a16="http://schemas.microsoft.com/office/drawing/2014/main" id="{78DA7137-1A49-20D7-CE93-CB6202BD0A41}"/>
              </a:ext>
            </a:extLst>
          </p:cNvPr>
          <p:cNvSpPr txBox="1"/>
          <p:nvPr/>
        </p:nvSpPr>
        <p:spPr>
          <a:xfrm>
            <a:off x="5408430" y="3290133"/>
            <a:ext cx="1245587" cy="369332"/>
          </a:xfrm>
          <a:prstGeom prst="rect">
            <a:avLst/>
          </a:prstGeom>
          <a:noFill/>
        </p:spPr>
        <p:txBody>
          <a:bodyPr wrap="square" rtlCol="0">
            <a:spAutoFit/>
          </a:bodyPr>
          <a:lstStyle/>
          <a:p>
            <a:pPr algn="ctr"/>
            <a:r>
              <a:rPr lang="en-US" dirty="0"/>
              <a:t>2000 rows</a:t>
            </a:r>
          </a:p>
        </p:txBody>
      </p:sp>
      <p:sp>
        <p:nvSpPr>
          <p:cNvPr id="14" name="TextBox 13">
            <a:extLst>
              <a:ext uri="{FF2B5EF4-FFF2-40B4-BE49-F238E27FC236}">
                <a16:creationId xmlns:a16="http://schemas.microsoft.com/office/drawing/2014/main" id="{76EC6081-BC59-77CC-8C45-FDE9C2EF736B}"/>
              </a:ext>
            </a:extLst>
          </p:cNvPr>
          <p:cNvSpPr txBox="1"/>
          <p:nvPr/>
        </p:nvSpPr>
        <p:spPr>
          <a:xfrm>
            <a:off x="3043307" y="3720198"/>
            <a:ext cx="6105378" cy="369332"/>
          </a:xfrm>
          <a:prstGeom prst="rect">
            <a:avLst/>
          </a:prstGeom>
          <a:noFill/>
        </p:spPr>
        <p:txBody>
          <a:bodyPr wrap="square">
            <a:spAutoFit/>
          </a:bodyPr>
          <a:lstStyle/>
          <a:p>
            <a:pPr algn="ctr"/>
            <a:r>
              <a:rPr lang="en-US" dirty="0"/>
              <a:t>5. Churn_events</a:t>
            </a:r>
          </a:p>
        </p:txBody>
      </p:sp>
      <p:sp>
        <p:nvSpPr>
          <p:cNvPr id="15" name="TextBox 14">
            <a:extLst>
              <a:ext uri="{FF2B5EF4-FFF2-40B4-BE49-F238E27FC236}">
                <a16:creationId xmlns:a16="http://schemas.microsoft.com/office/drawing/2014/main" id="{A599E414-2404-596E-F3A9-006BDF5A3F45}"/>
              </a:ext>
            </a:extLst>
          </p:cNvPr>
          <p:cNvSpPr txBox="1"/>
          <p:nvPr/>
        </p:nvSpPr>
        <p:spPr>
          <a:xfrm>
            <a:off x="5433956" y="6307575"/>
            <a:ext cx="1077218" cy="369332"/>
          </a:xfrm>
          <a:prstGeom prst="rect">
            <a:avLst/>
          </a:prstGeom>
          <a:noFill/>
        </p:spPr>
        <p:txBody>
          <a:bodyPr wrap="none" rtlCol="0">
            <a:spAutoFit/>
          </a:bodyPr>
          <a:lstStyle/>
          <a:p>
            <a:r>
              <a:rPr lang="en-US" dirty="0"/>
              <a:t>600 rows</a:t>
            </a:r>
          </a:p>
        </p:txBody>
      </p:sp>
      <p:pic>
        <p:nvPicPr>
          <p:cNvPr id="5122" name="Picture 2">
            <a:extLst>
              <a:ext uri="{FF2B5EF4-FFF2-40B4-BE49-F238E27FC236}">
                <a16:creationId xmlns:a16="http://schemas.microsoft.com/office/drawing/2014/main" id="{0132387B-2D73-695D-A454-23476AFB6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818" y="980490"/>
            <a:ext cx="11296356" cy="2218043"/>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A83BC388-D9A5-4E59-05E5-B0E69B2095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818" y="4248177"/>
            <a:ext cx="11296356" cy="1998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359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E12B0-2947-D692-1E37-8C5CBBAEDC54}"/>
              </a:ext>
            </a:extLst>
          </p:cNvPr>
          <p:cNvSpPr>
            <a:spLocks noGrp="1"/>
          </p:cNvSpPr>
          <p:nvPr>
            <p:ph type="title"/>
          </p:nvPr>
        </p:nvSpPr>
        <p:spPr>
          <a:xfrm>
            <a:off x="838200" y="365125"/>
            <a:ext cx="10515600" cy="1210457"/>
          </a:xfrm>
        </p:spPr>
        <p:txBody>
          <a:bodyPr>
            <a:normAutofit fontScale="90000"/>
          </a:bodyPr>
          <a:lstStyle/>
          <a:p>
            <a:pPr algn="ctr"/>
            <a:r>
              <a:rPr lang="en-IN" sz="3200" b="1" dirty="0">
                <a:latin typeface="Calibri" panose="020F0502020204030204" pitchFamily="34" charset="0"/>
                <a:cs typeface="Calibri" panose="020F0502020204030204" pitchFamily="34" charset="0"/>
              </a:rPr>
              <a:t>SECTION 1: REVENUE &amp; MONETIZATION</a:t>
            </a: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37783BA-E73D-9E5A-D07C-F5B768342952}"/>
              </a:ext>
            </a:extLst>
          </p:cNvPr>
          <p:cNvSpPr txBox="1"/>
          <p:nvPr/>
        </p:nvSpPr>
        <p:spPr>
          <a:xfrm>
            <a:off x="998806" y="956603"/>
            <a:ext cx="4743606"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1. Revenue Contribution by Plan Tier</a:t>
            </a:r>
            <a:endParaRPr lang="en-US" dirty="0">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5327756F-7295-1641-0B2F-CE93CC1AB467}"/>
              </a:ext>
            </a:extLst>
          </p:cNvPr>
          <p:cNvSpPr txBox="1"/>
          <p:nvPr/>
        </p:nvSpPr>
        <p:spPr>
          <a:xfrm>
            <a:off x="0" y="1575582"/>
            <a:ext cx="12192000" cy="1446550"/>
          </a:xfrm>
          <a:prstGeom prst="rect">
            <a:avLst/>
          </a:prstGeom>
          <a:noFill/>
        </p:spPr>
        <p:txBody>
          <a:bodyPr wrap="square" rtlCol="0">
            <a:spAutoFit/>
          </a:bodyPr>
          <a:lstStyle/>
          <a:p>
            <a:r>
              <a:rPr lang="en-IN" sz="2400" b="1" dirty="0">
                <a:latin typeface="Calibri" panose="020F0502020204030204" pitchFamily="34" charset="0"/>
                <a:cs typeface="Calibri" panose="020F0502020204030204" pitchFamily="34" charset="0"/>
              </a:rPr>
              <a:t>Which subscription plan tiers generate the highest recurring revenue, and how does revenue distribution vary across tiers?</a:t>
            </a:r>
            <a:endParaRPr lang="en-IN" sz="2400" b="1" dirty="0">
              <a:effectLst/>
              <a:latin typeface="Calibri" panose="020F0502020204030204" pitchFamily="34" charset="0"/>
              <a:cs typeface="Calibri" panose="020F0502020204030204" pitchFamily="34" charset="0"/>
            </a:endParaRPr>
          </a:p>
          <a:p>
            <a:br>
              <a:rPr lang="en-IN" sz="2000" dirty="0"/>
            </a:br>
            <a:endParaRPr lang="en-US" sz="2000" dirty="0"/>
          </a:p>
        </p:txBody>
      </p:sp>
      <p:sp>
        <p:nvSpPr>
          <p:cNvPr id="7" name="TextBox 6">
            <a:extLst>
              <a:ext uri="{FF2B5EF4-FFF2-40B4-BE49-F238E27FC236}">
                <a16:creationId xmlns:a16="http://schemas.microsoft.com/office/drawing/2014/main" id="{C73B7974-BC83-F308-5844-0FD0693B244A}"/>
              </a:ext>
            </a:extLst>
          </p:cNvPr>
          <p:cNvSpPr txBox="1"/>
          <p:nvPr/>
        </p:nvSpPr>
        <p:spPr>
          <a:xfrm>
            <a:off x="140890" y="2786039"/>
            <a:ext cx="7529625" cy="3416320"/>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SELECT</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plan_tier,</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COUNT(DISTINCT subscription_id) AS total_subscriptions,</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SUM(mrr_amount) AS total_mrr,</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SUM(arr_amount) AS total_arr,</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ROUND(AVG(mrr_amount), 2) AS avg_mrr_per_subscription</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FROM subscriptions</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WHERE is_trial = 'False'</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GROUP BY plan_tier</a:t>
            </a:r>
            <a:endParaRPr lang="en-IN"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ORDER BY total_mrr DESC;</a:t>
            </a:r>
            <a:endParaRPr lang="en-IN" dirty="0">
              <a:effectLst/>
              <a:latin typeface="Consolas" panose="020B0609020204030204" pitchFamily="49" charset="0"/>
              <a:cs typeface="Consolas" panose="020B0609020204030204" pitchFamily="49" charset="0"/>
            </a:endParaRPr>
          </a:p>
          <a:p>
            <a:br>
              <a:rPr lang="en-IN" dirty="0"/>
            </a:br>
            <a:endParaRPr lang="en-US" dirty="0"/>
          </a:p>
        </p:txBody>
      </p:sp>
      <p:pic>
        <p:nvPicPr>
          <p:cNvPr id="6146" name="Picture 2">
            <a:extLst>
              <a:ext uri="{FF2B5EF4-FFF2-40B4-BE49-F238E27FC236}">
                <a16:creationId xmlns:a16="http://schemas.microsoft.com/office/drawing/2014/main" id="{E1CF19CC-DCF1-DA15-9B94-19767AC502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8115" y="4751148"/>
            <a:ext cx="7924800" cy="162560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50800" dist="50800" dir="5400000" algn="ctr" rotWithShape="0">
              <a:srgbClr val="000000">
                <a:alpha val="0"/>
              </a:srgbClr>
            </a:outerShdw>
          </a:effectLst>
        </p:spPr>
      </p:pic>
    </p:spTree>
    <p:extLst>
      <p:ext uri="{BB962C8B-B14F-4D97-AF65-F5344CB8AC3E}">
        <p14:creationId xmlns:p14="http://schemas.microsoft.com/office/powerpoint/2010/main" val="3815478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5444A68-170D-084D-B84E-B102706B6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303E37-4D6B-E99E-AAE6-602366CB2F4E}"/>
              </a:ext>
            </a:extLst>
          </p:cNvPr>
          <p:cNvSpPr>
            <a:spLocks noGrp="1"/>
          </p:cNvSpPr>
          <p:nvPr>
            <p:ph type="title"/>
          </p:nvPr>
        </p:nvSpPr>
        <p:spPr>
          <a:xfrm>
            <a:off x="838200" y="365125"/>
            <a:ext cx="10515600" cy="1210457"/>
          </a:xfrm>
        </p:spPr>
        <p:txBody>
          <a:bodyPr>
            <a:normAutofit fontScale="90000"/>
          </a:bodyPr>
          <a:lstStyle/>
          <a:p>
            <a:pPr algn="ct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09AF47C-82F0-72EA-46CE-A6B5DD05BF03}"/>
              </a:ext>
            </a:extLst>
          </p:cNvPr>
          <p:cNvSpPr txBox="1"/>
          <p:nvPr/>
        </p:nvSpPr>
        <p:spPr>
          <a:xfrm>
            <a:off x="838200" y="227740"/>
            <a:ext cx="7023076"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2. Subscription Tier Movement (Upgrades vs Downgrades)</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38795A37-CAC8-3277-EBB0-212CCB7288B5}"/>
              </a:ext>
            </a:extLst>
          </p:cNvPr>
          <p:cNvSpPr txBox="1"/>
          <p:nvPr/>
        </p:nvSpPr>
        <p:spPr>
          <a:xfrm>
            <a:off x="0" y="734457"/>
            <a:ext cx="12192000" cy="1815882"/>
          </a:xfrm>
          <a:prstGeom prst="rect">
            <a:avLst/>
          </a:prstGeom>
          <a:noFill/>
        </p:spPr>
        <p:txBody>
          <a:bodyPr wrap="square" rtlCol="0">
            <a:spAutoFit/>
          </a:bodyPr>
          <a:lstStyle/>
          <a:p>
            <a:r>
              <a:rPr lang="en-IN" sz="2400" b="1" dirty="0">
                <a:latin typeface="Calibri" panose="020F0502020204030204" pitchFamily="34" charset="0"/>
                <a:cs typeface="Calibri" panose="020F0502020204030204" pitchFamily="34" charset="0"/>
              </a:rPr>
              <a:t> How do users transition between subscription tiers through upgrades and downgrades, and what does this indicate about product growth?</a:t>
            </a:r>
            <a:endParaRPr lang="en-IN" sz="2400" b="1" dirty="0">
              <a:effectLst/>
              <a:latin typeface="Calibri" panose="020F0502020204030204" pitchFamily="34" charset="0"/>
              <a:cs typeface="Calibri" panose="020F0502020204030204" pitchFamily="34" charset="0"/>
            </a:endParaRPr>
          </a:p>
          <a:p>
            <a:br>
              <a:rPr lang="en-IN" sz="2400" dirty="0"/>
            </a:br>
            <a:br>
              <a:rPr lang="en-IN" sz="2000" dirty="0"/>
            </a:br>
            <a:endParaRPr lang="en-US" sz="2000" dirty="0"/>
          </a:p>
        </p:txBody>
      </p:sp>
      <p:sp>
        <p:nvSpPr>
          <p:cNvPr id="7" name="TextBox 6">
            <a:extLst>
              <a:ext uri="{FF2B5EF4-FFF2-40B4-BE49-F238E27FC236}">
                <a16:creationId xmlns:a16="http://schemas.microsoft.com/office/drawing/2014/main" id="{A11B2442-B0D0-1B36-433B-F2AC99BD5BC8}"/>
              </a:ext>
            </a:extLst>
          </p:cNvPr>
          <p:cNvSpPr txBox="1"/>
          <p:nvPr/>
        </p:nvSpPr>
        <p:spPr>
          <a:xfrm>
            <a:off x="140890" y="1712967"/>
            <a:ext cx="9555821" cy="286232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SELECT</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plan_tier,</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WHEN upgrade_flag = 'True' THEN 1 ELSE 0 END) AS upgrades,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WHEN downgrade_flag = 'True' THEN 1 ELSE 0 END) AS downgrades,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COUNT(subscription_id) AS total_subscriptions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FROM subscriptions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GROUP BY plan_tier</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ORDER BY upgrades DESC;</a:t>
            </a:r>
            <a:endParaRPr lang="en-IN" b="0" dirty="0">
              <a:effectLst/>
              <a:latin typeface="Consolas" panose="020B0609020204030204" pitchFamily="49" charset="0"/>
              <a:cs typeface="Consolas" panose="020B0609020204030204" pitchFamily="49" charset="0"/>
            </a:endParaRPr>
          </a:p>
          <a:p>
            <a:br>
              <a:rPr lang="en-IN" dirty="0"/>
            </a:br>
            <a:endParaRPr lang="en-US" dirty="0"/>
          </a:p>
        </p:txBody>
      </p:sp>
      <p:pic>
        <p:nvPicPr>
          <p:cNvPr id="9218" name="Picture 2">
            <a:extLst>
              <a:ext uri="{FF2B5EF4-FFF2-40B4-BE49-F238E27FC236}">
                <a16:creationId xmlns:a16="http://schemas.microsoft.com/office/drawing/2014/main" id="{83A04196-036D-D364-4D34-F0F791199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6310" y="3221812"/>
            <a:ext cx="7924800" cy="2171700"/>
          </a:xfrm>
          <a:prstGeom prst="rect">
            <a:avLst/>
          </a:prstGeom>
          <a:noFill/>
          <a:effectLst>
            <a:outerShdw blurRad="50800" dist="50800" dir="5400000" algn="ctr" rotWithShape="0">
              <a:schemeClr val="tx1">
                <a:alpha val="0"/>
              </a:scheme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86F7468-33CB-E1A3-EC96-F91AA56372A1}"/>
              </a:ext>
            </a:extLst>
          </p:cNvPr>
          <p:cNvSpPr txBox="1"/>
          <p:nvPr/>
        </p:nvSpPr>
        <p:spPr>
          <a:xfrm>
            <a:off x="140890" y="5943600"/>
            <a:ext cx="11708655" cy="646331"/>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Users show a higher tendency to upgrade than downgrade, suggesting healthy upward movement </a:t>
            </a:r>
          </a:p>
          <a:p>
            <a:r>
              <a:rPr lang="en-IN" dirty="0">
                <a:latin typeface="Consolas" panose="020B0609020204030204" pitchFamily="49" charset="0"/>
                <a:cs typeface="Consolas" panose="020B0609020204030204" pitchFamily="49" charset="0"/>
              </a:rPr>
              <a:t>across subscription tiers and overall product adoption growth.</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39187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BCBB03-EE38-C03A-A4FF-41E421E57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580A62-A0EA-7DA5-8CBD-D6392120D56F}"/>
              </a:ext>
            </a:extLst>
          </p:cNvPr>
          <p:cNvSpPr>
            <a:spLocks noGrp="1"/>
          </p:cNvSpPr>
          <p:nvPr>
            <p:ph type="title"/>
          </p:nvPr>
        </p:nvSpPr>
        <p:spPr>
          <a:xfrm>
            <a:off x="838200" y="365125"/>
            <a:ext cx="10515600" cy="1210457"/>
          </a:xfrm>
        </p:spPr>
        <p:txBody>
          <a:bodyPr>
            <a:normAutofit fontScale="90000"/>
          </a:bodyPr>
          <a:lstStyle/>
          <a:p>
            <a:pPr algn="ct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57E766A-2539-5E47-27D4-2FA908C0B8C3}"/>
              </a:ext>
            </a:extLst>
          </p:cNvPr>
          <p:cNvSpPr txBox="1"/>
          <p:nvPr/>
        </p:nvSpPr>
        <p:spPr>
          <a:xfrm>
            <a:off x="838200" y="227740"/>
            <a:ext cx="5756704"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3. Revenue Impact of Upgrades and Downgrades</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4B91AE5F-FA8B-9489-8776-6043C1C3EE83}"/>
              </a:ext>
            </a:extLst>
          </p:cNvPr>
          <p:cNvSpPr txBox="1"/>
          <p:nvPr/>
        </p:nvSpPr>
        <p:spPr>
          <a:xfrm>
            <a:off x="0" y="734457"/>
            <a:ext cx="12192000" cy="1815882"/>
          </a:xfrm>
          <a:prstGeom prst="rect">
            <a:avLst/>
          </a:prstGeom>
          <a:noFill/>
        </p:spPr>
        <p:txBody>
          <a:bodyPr wrap="square" rtlCol="0">
            <a:spAutoFit/>
          </a:bodyPr>
          <a:lstStyle/>
          <a:p>
            <a:r>
              <a:rPr lang="en-IN" sz="2400" b="1" dirty="0">
                <a:latin typeface="Calibri" panose="020F0502020204030204" pitchFamily="34" charset="0"/>
                <a:cs typeface="Calibri" panose="020F0502020204030204" pitchFamily="34" charset="0"/>
              </a:rPr>
              <a:t> </a:t>
            </a:r>
            <a:r>
              <a:rPr lang="en-IN" dirty="0"/>
              <a:t> </a:t>
            </a:r>
            <a:r>
              <a:rPr lang="en-IN" sz="2400" b="1" dirty="0">
                <a:latin typeface="Calibri" panose="020F0502020204030204" pitchFamily="34" charset="0"/>
                <a:cs typeface="Calibri" panose="020F0502020204030204" pitchFamily="34" charset="0"/>
              </a:rPr>
              <a:t>How do upgrades and downgrades impact net revenue across subscription tiers?</a:t>
            </a:r>
            <a:endParaRPr lang="en-IN" sz="2400" b="1" dirty="0">
              <a:effectLst/>
              <a:latin typeface="Calibri" panose="020F0502020204030204" pitchFamily="34" charset="0"/>
              <a:cs typeface="Calibri" panose="020F0502020204030204" pitchFamily="34" charset="0"/>
            </a:endParaRPr>
          </a:p>
          <a:p>
            <a:br>
              <a:rPr lang="en-IN" sz="2400" b="1" dirty="0">
                <a:latin typeface="Calibri" panose="020F0502020204030204" pitchFamily="34" charset="0"/>
                <a:cs typeface="Calibri" panose="020F0502020204030204" pitchFamily="34" charset="0"/>
              </a:rPr>
            </a:br>
            <a:br>
              <a:rPr lang="en-IN" sz="2400" dirty="0"/>
            </a:br>
            <a:br>
              <a:rPr lang="en-IN" sz="2000" dirty="0"/>
            </a:br>
            <a:endParaRPr lang="en-US" sz="2000" dirty="0"/>
          </a:p>
        </p:txBody>
      </p:sp>
      <p:sp>
        <p:nvSpPr>
          <p:cNvPr id="7" name="TextBox 6">
            <a:extLst>
              <a:ext uri="{FF2B5EF4-FFF2-40B4-BE49-F238E27FC236}">
                <a16:creationId xmlns:a16="http://schemas.microsoft.com/office/drawing/2014/main" id="{6A6769BD-84CE-DB9B-AF58-BFE2BA0BE83F}"/>
              </a:ext>
            </a:extLst>
          </p:cNvPr>
          <p:cNvSpPr txBox="1"/>
          <p:nvPr/>
        </p:nvSpPr>
        <p:spPr>
          <a:xfrm>
            <a:off x="0" y="1135666"/>
            <a:ext cx="11708655" cy="3970318"/>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SELECT </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plan_tier,</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WHEN upgrade_flag = 'True' THEN mrr_amount ELSE 0 END) AS upgrade_revenue,</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WHEN downgrade_flag = 'True' THEN mrr_amount ELSE 0 END) AS downgrade_revenue,</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WHEN upgrade_flag = 'True' THEN mrr_amount </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WHEN downgrade_flag = 'True' THEN -mrr_amount </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ELSE 0 </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END) AS net_revenue_impact</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FROM subscriptions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GROUP BY plan_tier</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ORDER BY net_revenue_impact DESC;</a:t>
            </a:r>
            <a:endParaRPr lang="en-IN" b="0" dirty="0">
              <a:effectLst/>
              <a:latin typeface="Consolas" panose="020B0609020204030204" pitchFamily="49" charset="0"/>
              <a:cs typeface="Consolas" panose="020B0609020204030204" pitchFamily="49" charset="0"/>
            </a:endParaRPr>
          </a:p>
          <a:p>
            <a:br>
              <a:rPr lang="en-IN" dirty="0">
                <a:latin typeface="Consolas" panose="020B0609020204030204" pitchFamily="49" charset="0"/>
                <a:cs typeface="Consolas" panose="020B0609020204030204" pitchFamily="49" charset="0"/>
              </a:rPr>
            </a:br>
            <a:endParaRPr lang="en-US" dirty="0">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0DC2AE99-EC73-A8E3-4AC8-3076D05337F8}"/>
              </a:ext>
            </a:extLst>
          </p:cNvPr>
          <p:cNvSpPr txBox="1"/>
          <p:nvPr/>
        </p:nvSpPr>
        <p:spPr>
          <a:xfrm>
            <a:off x="0" y="5722334"/>
            <a:ext cx="12341840" cy="646331"/>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Revenue impact is mainly driven by upgrades, while downgrades act as controlled leakage,</a:t>
            </a:r>
          </a:p>
          <a:p>
            <a:r>
              <a:rPr lang="en-IN" dirty="0">
                <a:latin typeface="Consolas" panose="020B0609020204030204" pitchFamily="49" charset="0"/>
                <a:cs typeface="Consolas" panose="020B0609020204030204" pitchFamily="49" charset="0"/>
              </a:rPr>
              <a:t>showing that expansion revenue plays a stronger role than contraction across subscription tiers.</a:t>
            </a:r>
          </a:p>
        </p:txBody>
      </p:sp>
      <p:pic>
        <p:nvPicPr>
          <p:cNvPr id="11266" name="Picture 2">
            <a:extLst>
              <a:ext uri="{FF2B5EF4-FFF2-40B4-BE49-F238E27FC236}">
                <a16:creationId xmlns:a16="http://schemas.microsoft.com/office/drawing/2014/main" id="{9BD5D4B9-E7FB-DA8F-24B0-A6AB36731D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49867" y="3290899"/>
            <a:ext cx="7634281"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1635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A6488F5-6386-FCA3-DB66-87AB23229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1733A-9F39-956E-57FC-9591017CA2D1}"/>
              </a:ext>
            </a:extLst>
          </p:cNvPr>
          <p:cNvSpPr>
            <a:spLocks noGrp="1"/>
          </p:cNvSpPr>
          <p:nvPr>
            <p:ph type="title"/>
          </p:nvPr>
        </p:nvSpPr>
        <p:spPr>
          <a:xfrm>
            <a:off x="838200" y="451794"/>
            <a:ext cx="10515600" cy="1210457"/>
          </a:xfrm>
        </p:spPr>
        <p:txBody>
          <a:bodyPr>
            <a:normAutofit fontScale="90000"/>
          </a:bodyPr>
          <a:lstStyle/>
          <a:p>
            <a:pPr algn="ctr"/>
            <a:r>
              <a:rPr lang="en-IN" sz="3200" b="1" dirty="0">
                <a:latin typeface="Calibri" panose="020F0502020204030204" pitchFamily="34" charset="0"/>
                <a:cs typeface="Calibri" panose="020F0502020204030204" pitchFamily="34" charset="0"/>
              </a:rPr>
              <a:t>SECTION 2: </a:t>
            </a:r>
            <a:r>
              <a:rPr lang="en-IN" b="1" dirty="0"/>
              <a:t> </a:t>
            </a:r>
            <a:r>
              <a:rPr lang="en-IN" sz="3100" b="1" dirty="0">
                <a:latin typeface="Calibri" panose="020F0502020204030204" pitchFamily="34" charset="0"/>
                <a:cs typeface="Calibri" panose="020F0502020204030204" pitchFamily="34" charset="0"/>
              </a:rPr>
              <a:t>CUSTOMER ACQUISITION &amp; CONVERSION</a:t>
            </a:r>
            <a:br>
              <a:rPr lang="en-IN" sz="3100" b="1" dirty="0">
                <a:effectLst/>
                <a:latin typeface="Calibri" panose="020F0502020204030204" pitchFamily="34" charset="0"/>
                <a:cs typeface="Calibri" panose="020F0502020204030204" pitchFamily="34" charset="0"/>
              </a:rPr>
            </a:b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828F0D0-8F40-6C02-80DE-73921F23E754}"/>
              </a:ext>
            </a:extLst>
          </p:cNvPr>
          <p:cNvSpPr txBox="1"/>
          <p:nvPr/>
        </p:nvSpPr>
        <p:spPr>
          <a:xfrm>
            <a:off x="998806" y="956603"/>
            <a:ext cx="5503430"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4. Trial vs Paid Subscription Distribution</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7E654E83-66C4-E4BF-371B-F9121CFC4CB8}"/>
              </a:ext>
            </a:extLst>
          </p:cNvPr>
          <p:cNvSpPr txBox="1"/>
          <p:nvPr/>
        </p:nvSpPr>
        <p:spPr>
          <a:xfrm>
            <a:off x="0" y="1575582"/>
            <a:ext cx="12192000" cy="1569660"/>
          </a:xfrm>
          <a:prstGeom prst="rect">
            <a:avLst/>
          </a:prstGeom>
          <a:noFill/>
        </p:spPr>
        <p:txBody>
          <a:bodyPr wrap="square" rtlCol="0">
            <a:spAutoFit/>
          </a:bodyPr>
          <a:lstStyle/>
          <a:p>
            <a:r>
              <a:rPr lang="en-IN" sz="2400" dirty="0">
                <a:latin typeface="Calibri" panose="020F0502020204030204" pitchFamily="34" charset="0"/>
                <a:cs typeface="Calibri" panose="020F0502020204030204" pitchFamily="34" charset="0"/>
              </a:rPr>
              <a:t> </a:t>
            </a:r>
            <a:r>
              <a:rPr lang="en-IN" sz="2400" b="1" dirty="0">
                <a:latin typeface="Calibri" panose="020F0502020204030204" pitchFamily="34" charset="0"/>
                <a:cs typeface="Calibri" panose="020F0502020204030204" pitchFamily="34" charset="0"/>
              </a:rPr>
              <a:t>How effectively do trial users convert into paid subscriptions across different plan tiers?</a:t>
            </a:r>
            <a:endParaRPr lang="en-IN" sz="2400" b="1" dirty="0">
              <a:effectLst/>
              <a:latin typeface="Calibri" panose="020F0502020204030204" pitchFamily="34" charset="0"/>
              <a:cs typeface="Calibri" panose="020F0502020204030204" pitchFamily="34" charset="0"/>
            </a:endParaRPr>
          </a:p>
          <a:p>
            <a:br>
              <a:rPr lang="en-IN" sz="2400" dirty="0">
                <a:cs typeface="Calibri" panose="020F0502020204030204" pitchFamily="34" charset="0"/>
              </a:rPr>
            </a:br>
            <a:br>
              <a:rPr lang="en-IN" sz="2400" dirty="0">
                <a:latin typeface="Calibri" panose="020F0502020204030204" pitchFamily="34" charset="0"/>
                <a:cs typeface="Calibri" panose="020F0502020204030204" pitchFamily="34" charset="0"/>
              </a:rPr>
            </a:br>
            <a:endParaRPr lang="en-US" sz="24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38CF2A4-7B99-FD90-8FBC-620A3E7A7471}"/>
              </a:ext>
            </a:extLst>
          </p:cNvPr>
          <p:cNvSpPr txBox="1"/>
          <p:nvPr/>
        </p:nvSpPr>
        <p:spPr>
          <a:xfrm>
            <a:off x="0" y="1931079"/>
            <a:ext cx="8922635" cy="3970318"/>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SELECT</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plan_tier,</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COUNT(subscription_id) AS total_subscriptions,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WHEN is_trial = 'True' THEN 1 ELSE 0 END) AS trial_users,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WHEN is_trial = 'False' THEN 1 ELSE 0 END) AS paid_users,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ROUND(</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SUM(CASE WHEN is_trial = 'False' THEN 1 ELSE 0 END) * 100.0</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 COUNT(subscription_id), 2</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   ) AS paid_conversion_rate</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FROM subscriptions</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GROUP BY plan_tier</a:t>
            </a:r>
            <a:endParaRPr lang="en-IN" b="0" dirty="0">
              <a:effectLst/>
              <a:latin typeface="Consolas" panose="020B0609020204030204" pitchFamily="49" charset="0"/>
              <a:cs typeface="Consolas" panose="020B0609020204030204" pitchFamily="49" charset="0"/>
            </a:endParaRPr>
          </a:p>
          <a:p>
            <a:r>
              <a:rPr lang="en-IN" dirty="0">
                <a:latin typeface="Consolas" panose="020B0609020204030204" pitchFamily="49" charset="0"/>
                <a:cs typeface="Consolas" panose="020B0609020204030204" pitchFamily="49" charset="0"/>
              </a:rPr>
              <a:t>ORDER BY paid_conversion_rate DESC;</a:t>
            </a:r>
            <a:endParaRPr lang="en-IN" b="0" dirty="0">
              <a:effectLst/>
              <a:latin typeface="Consolas" panose="020B0609020204030204" pitchFamily="49" charset="0"/>
              <a:cs typeface="Consolas" panose="020B0609020204030204" pitchFamily="49" charset="0"/>
            </a:endParaRPr>
          </a:p>
          <a:p>
            <a:br>
              <a:rPr lang="en-IN" dirty="0">
                <a:latin typeface="Consolas" panose="020B0609020204030204" pitchFamily="49" charset="0"/>
                <a:cs typeface="Consolas" panose="020B0609020204030204" pitchFamily="49" charset="0"/>
              </a:rPr>
            </a:br>
            <a:endParaRPr lang="en-US" dirty="0">
              <a:latin typeface="Consolas" panose="020B0609020204030204" pitchFamily="49" charset="0"/>
              <a:cs typeface="Consolas" panose="020B0609020204030204" pitchFamily="49" charset="0"/>
            </a:endParaRPr>
          </a:p>
        </p:txBody>
      </p:sp>
      <p:pic>
        <p:nvPicPr>
          <p:cNvPr id="14338" name="Picture 2">
            <a:extLst>
              <a:ext uri="{FF2B5EF4-FFF2-40B4-BE49-F238E27FC236}">
                <a16:creationId xmlns:a16="http://schemas.microsoft.com/office/drawing/2014/main" id="{0134FF27-B301-BEF6-62C1-726DDDDA8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7594" y="4092011"/>
            <a:ext cx="7441809" cy="16256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0D7CBB7-B643-1386-6B8F-62218587DE78}"/>
              </a:ext>
            </a:extLst>
          </p:cNvPr>
          <p:cNvSpPr txBox="1"/>
          <p:nvPr/>
        </p:nvSpPr>
        <p:spPr>
          <a:xfrm>
            <a:off x="0" y="6083040"/>
            <a:ext cx="11075468" cy="646331"/>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Paid conversion rates remain relatively consistent across plan tiers, suggesting that </a:t>
            </a:r>
          </a:p>
          <a:p>
            <a:r>
              <a:rPr lang="en-IN" dirty="0">
                <a:latin typeface="Consolas" panose="020B0609020204030204" pitchFamily="49" charset="0"/>
                <a:cs typeface="Consolas" panose="020B0609020204030204" pitchFamily="49" charset="0"/>
              </a:rPr>
              <a:t>trial-to-paid behaviour is fairly stable throughout the product ecosystem.</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840885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403687D-8B28-8D93-B105-48DACDB801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87FD18-7D14-85AD-E4C5-361F7EE2E0B2}"/>
              </a:ext>
            </a:extLst>
          </p:cNvPr>
          <p:cNvSpPr>
            <a:spLocks noGrp="1"/>
          </p:cNvSpPr>
          <p:nvPr>
            <p:ph type="title"/>
          </p:nvPr>
        </p:nvSpPr>
        <p:spPr>
          <a:xfrm>
            <a:off x="838200" y="351374"/>
            <a:ext cx="10515600" cy="1210457"/>
          </a:xfrm>
        </p:spPr>
        <p:txBody>
          <a:bodyPr>
            <a:normAutofit fontScale="90000"/>
          </a:bodyPr>
          <a:lstStyle/>
          <a:p>
            <a:pPr algn="ctr"/>
            <a:r>
              <a:rPr lang="en-IN" sz="3100" b="1" dirty="0">
                <a:latin typeface="Calibri" panose="020F0502020204030204" pitchFamily="34" charset="0"/>
                <a:cs typeface="Calibri" panose="020F0502020204030204" pitchFamily="34" charset="0"/>
              </a:rPr>
              <a:t>SECTION 3: </a:t>
            </a:r>
            <a:r>
              <a:rPr lang="en-IN" sz="3100" b="1" dirty="0"/>
              <a:t> </a:t>
            </a:r>
            <a:r>
              <a:rPr lang="en-IN" sz="3100" b="1" dirty="0">
                <a:latin typeface="Calibri" panose="020F0502020204030204" pitchFamily="34" charset="0"/>
                <a:cs typeface="Calibri" panose="020F0502020204030204" pitchFamily="34" charset="0"/>
              </a:rPr>
              <a:t>PRODUCT ENGAGEMENT</a:t>
            </a:r>
            <a:br>
              <a:rPr lang="en-IN" sz="3100" b="1" dirty="0">
                <a:effectLst/>
                <a:latin typeface="Calibri" panose="020F0502020204030204" pitchFamily="34" charset="0"/>
                <a:cs typeface="Calibri" panose="020F0502020204030204" pitchFamily="34" charset="0"/>
              </a:rPr>
            </a:b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7404692-76FC-CC9D-2AFB-30C099569C2E}"/>
              </a:ext>
            </a:extLst>
          </p:cNvPr>
          <p:cNvSpPr txBox="1"/>
          <p:nvPr/>
        </p:nvSpPr>
        <p:spPr>
          <a:xfrm>
            <a:off x="946554" y="603346"/>
            <a:ext cx="3857146"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5. Feature Usage Distribution</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DE97A1A0-09F1-678E-35FB-43E39DB60F20}"/>
              </a:ext>
            </a:extLst>
          </p:cNvPr>
          <p:cNvSpPr txBox="1"/>
          <p:nvPr/>
        </p:nvSpPr>
        <p:spPr>
          <a:xfrm>
            <a:off x="-91440" y="884251"/>
            <a:ext cx="12192000" cy="1323439"/>
          </a:xfrm>
          <a:prstGeom prst="rect">
            <a:avLst/>
          </a:prstGeom>
          <a:noFill/>
        </p:spPr>
        <p:txBody>
          <a:bodyPr wrap="square" rtlCol="0">
            <a:spAutoFit/>
          </a:bodyPr>
          <a:lstStyle/>
          <a:p>
            <a:r>
              <a:rPr lang="en-IN" sz="2000" dirty="0">
                <a:latin typeface="Calibri" panose="020F0502020204030204" pitchFamily="34" charset="0"/>
                <a:cs typeface="Calibri" panose="020F0502020204030204" pitchFamily="34" charset="0"/>
              </a:rPr>
              <a:t> </a:t>
            </a:r>
            <a:r>
              <a:rPr lang="en-IN" sz="2000" dirty="0"/>
              <a:t> </a:t>
            </a:r>
            <a:r>
              <a:rPr lang="en-IN" sz="2000" b="1" dirty="0">
                <a:latin typeface="Calibri" panose="020F0502020204030204" pitchFamily="34" charset="0"/>
                <a:cs typeface="Calibri" panose="020F0502020204030204" pitchFamily="34" charset="0"/>
              </a:rPr>
              <a:t>Which product features drive the highest user engagement?</a:t>
            </a:r>
            <a:endParaRPr lang="en-IN" sz="2000" b="1" dirty="0">
              <a:effectLst/>
              <a:latin typeface="Calibri" panose="020F0502020204030204" pitchFamily="34" charset="0"/>
              <a:cs typeface="Calibri" panose="020F0502020204030204" pitchFamily="34" charset="0"/>
            </a:endParaRPr>
          </a:p>
          <a:p>
            <a:br>
              <a:rPr lang="en-IN" sz="2000" b="1" dirty="0">
                <a:latin typeface="Calibri" panose="020F0502020204030204" pitchFamily="34" charset="0"/>
                <a:cs typeface="Calibri" panose="020F0502020204030204" pitchFamily="34" charset="0"/>
              </a:rPr>
            </a:br>
            <a:br>
              <a:rPr lang="en-IN" sz="2000" dirty="0">
                <a:latin typeface="Calibri" panose="020F0502020204030204" pitchFamily="34" charset="0"/>
                <a:cs typeface="Calibri" panose="020F0502020204030204" pitchFamily="34" charset="0"/>
              </a:rPr>
            </a:br>
            <a:endParaRPr lang="en-US" sz="20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E1917C51-0B94-1EC2-CA22-637FA90136AB}"/>
              </a:ext>
            </a:extLst>
          </p:cNvPr>
          <p:cNvSpPr txBox="1"/>
          <p:nvPr/>
        </p:nvSpPr>
        <p:spPr>
          <a:xfrm>
            <a:off x="0" y="1224650"/>
            <a:ext cx="7478329" cy="6740307"/>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SELECT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f.feature_name,</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COUNT(DISTINCT f.subscription_id) AS total_users,</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SUM(f.usage_count) AS total_feature_usage,</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ROUND(AVG(f.usage_duration_secs) / 60.0, 2) AS avg_usage_minutes,</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SUM(CASE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WHEN f.is_beta_feature = 'True' THEN 1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ELSE 0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END) AS beta_feature_usage,</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SUM(CASE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WHEN s.upgrade_flag = 'True' THEN 1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ELSE 0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END) AS upgraded_users,</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SUM(CASE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WHEN s.churn_flag = 'True' THEN 1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ELSE 0 </a:t>
            </a:r>
            <a:endParaRPr lang="en-IN" sz="1600" b="0" dirty="0">
              <a:effectLst/>
              <a:latin typeface="Consolas" panose="020B0609020204030204" pitchFamily="49" charset="0"/>
              <a:cs typeface="Consolas" panose="020B0609020204030204" pitchFamily="49" charset="0"/>
            </a:endParaRPr>
          </a:p>
          <a:p>
            <a:r>
              <a:rPr lang="en-IN" sz="1600" dirty="0">
                <a:latin typeface="Consolas" panose="020B0609020204030204" pitchFamily="49" charset="0"/>
                <a:cs typeface="Consolas" panose="020B0609020204030204" pitchFamily="49" charset="0"/>
              </a:rPr>
              <a:t>     END) AS churned_users</a:t>
            </a:r>
          </a:p>
          <a:p>
            <a:r>
              <a:rPr lang="en-IN" sz="1600" dirty="0">
                <a:latin typeface="Consolas" panose="020B0609020204030204" pitchFamily="49" charset="0"/>
                <a:cs typeface="Consolas" panose="020B0609020204030204" pitchFamily="49" charset="0"/>
              </a:rPr>
              <a:t>FROM feature_usage f</a:t>
            </a:r>
          </a:p>
          <a:p>
            <a:r>
              <a:rPr lang="en-IN" sz="1600" dirty="0">
                <a:latin typeface="Consolas" panose="020B0609020204030204" pitchFamily="49" charset="0"/>
                <a:cs typeface="Consolas" panose="020B0609020204030204" pitchFamily="49" charset="0"/>
              </a:rPr>
              <a:t>JOIN subscriptions s</a:t>
            </a:r>
          </a:p>
          <a:p>
            <a:r>
              <a:rPr lang="en-IN" sz="1600" dirty="0">
                <a:latin typeface="Consolas" panose="020B0609020204030204" pitchFamily="49" charset="0"/>
                <a:cs typeface="Consolas" panose="020B0609020204030204" pitchFamily="49" charset="0"/>
              </a:rPr>
              <a:t>    ON f.subscription_id = s.subscription_id</a:t>
            </a:r>
          </a:p>
          <a:p>
            <a:r>
              <a:rPr lang="en-IN" sz="1600" dirty="0">
                <a:latin typeface="Consolas" panose="020B0609020204030204" pitchFamily="49" charset="0"/>
                <a:cs typeface="Consolas" panose="020B0609020204030204" pitchFamily="49" charset="0"/>
              </a:rPr>
              <a:t>GROUP BY f.feature_name</a:t>
            </a:r>
          </a:p>
          <a:p>
            <a:r>
              <a:rPr lang="en-IN" sz="1600" dirty="0">
                <a:latin typeface="Consolas" panose="020B0609020204030204" pitchFamily="49" charset="0"/>
                <a:cs typeface="Consolas" panose="020B0609020204030204" pitchFamily="49" charset="0"/>
              </a:rPr>
              <a:t>ORDER BY total_feature_usage DESC;</a:t>
            </a:r>
          </a:p>
          <a:p>
            <a:br>
              <a:rPr lang="en-IN" sz="1600" dirty="0">
                <a:latin typeface="Consolas" panose="020B0609020204030204" pitchFamily="49" charset="0"/>
                <a:cs typeface="Consolas" panose="020B0609020204030204" pitchFamily="49" charset="0"/>
              </a:rPr>
            </a:br>
            <a:endParaRPr lang="en-US" sz="1600" dirty="0">
              <a:latin typeface="Consolas" panose="020B0609020204030204" pitchFamily="49" charset="0"/>
              <a:cs typeface="Consolas" panose="020B0609020204030204" pitchFamily="49" charset="0"/>
            </a:endParaRPr>
          </a:p>
          <a:p>
            <a:endParaRPr lang="en-IN" sz="1600" b="0" dirty="0">
              <a:effectLst/>
              <a:latin typeface="Consolas" panose="020B0609020204030204" pitchFamily="49" charset="0"/>
              <a:cs typeface="Consolas" panose="020B0609020204030204" pitchFamily="49" charset="0"/>
            </a:endParaRPr>
          </a:p>
          <a:p>
            <a:br>
              <a:rPr lang="en-IN" sz="1600" b="0" dirty="0">
                <a:effectLst/>
                <a:latin typeface="Consolas" panose="020B0609020204030204" pitchFamily="49" charset="0"/>
                <a:cs typeface="Consolas" panose="020B0609020204030204" pitchFamily="49" charset="0"/>
              </a:rPr>
            </a:br>
            <a:endParaRPr lang="en-IN" sz="1600" b="0" dirty="0">
              <a:effectLst/>
              <a:latin typeface="Consolas" panose="020B0609020204030204" pitchFamily="49" charset="0"/>
              <a:cs typeface="Consolas" panose="020B0609020204030204" pitchFamily="49" charset="0"/>
            </a:endParaRPr>
          </a:p>
        </p:txBody>
      </p:sp>
      <p:pic>
        <p:nvPicPr>
          <p:cNvPr id="3" name="Picture 2">
            <a:extLst>
              <a:ext uri="{FF2B5EF4-FFF2-40B4-BE49-F238E27FC236}">
                <a16:creationId xmlns:a16="http://schemas.microsoft.com/office/drawing/2014/main" id="{EC5FB5BE-335D-8D7A-F98D-40B7D2083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2078" y="2515718"/>
            <a:ext cx="6453051" cy="311763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278AB747-805B-F08C-9919-AD90F58D5C1C}"/>
              </a:ext>
            </a:extLst>
          </p:cNvPr>
          <p:cNvSpPr txBox="1"/>
          <p:nvPr/>
        </p:nvSpPr>
        <p:spPr>
          <a:xfrm>
            <a:off x="5365566" y="5545374"/>
            <a:ext cx="6146074" cy="369332"/>
          </a:xfrm>
          <a:prstGeom prst="rect">
            <a:avLst/>
          </a:prstGeom>
          <a:noFill/>
        </p:spPr>
        <p:txBody>
          <a:bodyPr wrap="square">
            <a:spAutoFit/>
          </a:bodyPr>
          <a:lstStyle/>
          <a:p>
            <a:pPr algn="ctr"/>
            <a:r>
              <a:rPr lang="en-US" dirty="0">
                <a:latin typeface="Consolas" panose="020B0609020204030204" pitchFamily="49" charset="0"/>
                <a:cs typeface="Consolas" panose="020B0609020204030204" pitchFamily="49" charset="0"/>
              </a:rPr>
              <a:t>40 rows</a:t>
            </a:r>
          </a:p>
        </p:txBody>
      </p:sp>
      <p:sp>
        <p:nvSpPr>
          <p:cNvPr id="11" name="TextBox 10">
            <a:extLst>
              <a:ext uri="{FF2B5EF4-FFF2-40B4-BE49-F238E27FC236}">
                <a16:creationId xmlns:a16="http://schemas.microsoft.com/office/drawing/2014/main" id="{E5D666ED-7C5D-8887-581F-83C2D47C8EDC}"/>
              </a:ext>
            </a:extLst>
          </p:cNvPr>
          <p:cNvSpPr txBox="1"/>
          <p:nvPr/>
        </p:nvSpPr>
        <p:spPr>
          <a:xfrm>
            <a:off x="5212077" y="5918729"/>
            <a:ext cx="6146074" cy="923330"/>
          </a:xfrm>
          <a:prstGeom prst="rect">
            <a:avLst/>
          </a:prstGeom>
          <a:noFill/>
        </p:spPr>
        <p:txBody>
          <a:bodyPr wrap="square">
            <a:spAutoFit/>
          </a:bodyPr>
          <a:lstStyle/>
          <a:p>
            <a:r>
              <a:rPr lang="en-IN" dirty="0">
                <a:latin typeface="Consolas" panose="020B0609020204030204" pitchFamily="49" charset="0"/>
                <a:cs typeface="Consolas" panose="020B0609020204030204" pitchFamily="49" charset="0"/>
              </a:rPr>
              <a:t>Some high-usage features also show churn signals, suggesting possible gaps in usability or perceived value.</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4243796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CB8932-06D7-FD50-408C-46200935B2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4CBC0-C5EE-7096-D73B-1BF813D5AD2F}"/>
              </a:ext>
            </a:extLst>
          </p:cNvPr>
          <p:cNvSpPr>
            <a:spLocks noGrp="1"/>
          </p:cNvSpPr>
          <p:nvPr>
            <p:ph type="title"/>
          </p:nvPr>
        </p:nvSpPr>
        <p:spPr>
          <a:xfrm>
            <a:off x="838200" y="365125"/>
            <a:ext cx="10515600" cy="1210457"/>
          </a:xfrm>
        </p:spPr>
        <p:txBody>
          <a:bodyPr>
            <a:normAutofit fontScale="90000"/>
          </a:bodyPr>
          <a:lstStyle/>
          <a:p>
            <a:pPr algn="ct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39111ED-4B85-12FF-EE6D-523B5C149B2F}"/>
              </a:ext>
            </a:extLst>
          </p:cNvPr>
          <p:cNvSpPr txBox="1"/>
          <p:nvPr/>
        </p:nvSpPr>
        <p:spPr>
          <a:xfrm>
            <a:off x="838200" y="0"/>
            <a:ext cx="5121915" cy="338554"/>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6. Beta Feature Engagement vs Non-Beta Users</a:t>
            </a:r>
            <a:endParaRPr lang="en-IN" sz="1600"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D241592C-ACE2-D520-CC31-B5AC1EE713E2}"/>
              </a:ext>
            </a:extLst>
          </p:cNvPr>
          <p:cNvSpPr txBox="1"/>
          <p:nvPr/>
        </p:nvSpPr>
        <p:spPr>
          <a:xfrm>
            <a:off x="-135885" y="181705"/>
            <a:ext cx="12192000" cy="2031325"/>
          </a:xfrm>
          <a:prstGeom prst="rect">
            <a:avLst/>
          </a:prstGeom>
          <a:noFill/>
        </p:spPr>
        <p:txBody>
          <a:bodyPr wrap="square" rtlCol="0">
            <a:spAutoFit/>
          </a:bodyPr>
          <a:lstStyle/>
          <a:p>
            <a:r>
              <a:rPr lang="en-IN" b="1" dirty="0">
                <a:latin typeface="Calibri" panose="020F0502020204030204" pitchFamily="34" charset="0"/>
                <a:cs typeface="Calibri" panose="020F0502020204030204" pitchFamily="34" charset="0"/>
              </a:rPr>
              <a:t> </a:t>
            </a:r>
            <a:r>
              <a:rPr lang="en-IN" dirty="0"/>
              <a:t> </a:t>
            </a:r>
            <a:r>
              <a:rPr lang="en-IN" b="1" dirty="0">
                <a:latin typeface="Calibri" panose="020F0502020204030204" pitchFamily="34" charset="0"/>
                <a:cs typeface="Calibri" panose="020F0502020204030204" pitchFamily="34" charset="0"/>
              </a:rPr>
              <a:t>“Do users who engage with beta features demonstrate stronger engagement and retention behaviour?”</a:t>
            </a:r>
          </a:p>
          <a:p>
            <a:endParaRPr lang="en-IN" b="1" dirty="0">
              <a:effectLst/>
              <a:latin typeface="Calibri" panose="020F0502020204030204" pitchFamily="34" charset="0"/>
              <a:cs typeface="Calibri" panose="020F0502020204030204" pitchFamily="34" charset="0"/>
            </a:endParaRPr>
          </a:p>
          <a:p>
            <a:endParaRPr lang="en-IN" b="1" dirty="0">
              <a:effectLst/>
              <a:latin typeface="Calibri" panose="020F0502020204030204" pitchFamily="34" charset="0"/>
              <a:cs typeface="Calibri" panose="020F0502020204030204" pitchFamily="34" charset="0"/>
            </a:endParaRPr>
          </a:p>
          <a:p>
            <a:br>
              <a:rPr lang="en-IN" dirty="0"/>
            </a:br>
            <a:br>
              <a:rPr lang="en-IN" dirty="0"/>
            </a:br>
            <a:br>
              <a:rPr lang="en-IN" dirty="0"/>
            </a:br>
            <a:endParaRPr lang="en-US" dirty="0"/>
          </a:p>
        </p:txBody>
      </p:sp>
      <p:sp>
        <p:nvSpPr>
          <p:cNvPr id="7" name="TextBox 6">
            <a:extLst>
              <a:ext uri="{FF2B5EF4-FFF2-40B4-BE49-F238E27FC236}">
                <a16:creationId xmlns:a16="http://schemas.microsoft.com/office/drawing/2014/main" id="{F115C961-A377-B8C3-2DBC-048872BEAC06}"/>
              </a:ext>
            </a:extLst>
          </p:cNvPr>
          <p:cNvSpPr txBox="1"/>
          <p:nvPr/>
        </p:nvSpPr>
        <p:spPr>
          <a:xfrm>
            <a:off x="0" y="520259"/>
            <a:ext cx="6843540" cy="7201972"/>
          </a:xfrm>
          <a:prstGeom prst="rect">
            <a:avLst/>
          </a:prstGeom>
          <a:noFill/>
        </p:spPr>
        <p:txBody>
          <a:bodyPr wrap="none" rtlCol="0">
            <a:spAutoFit/>
          </a:bodyPr>
          <a:lstStyle/>
          <a:p>
            <a:r>
              <a:rPr lang="en-IN" sz="1400" dirty="0">
                <a:latin typeface="Consolas" panose="020B0609020204030204" pitchFamily="49" charset="0"/>
                <a:cs typeface="Consolas" panose="020B0609020204030204" pitchFamily="49" charset="0"/>
              </a:rPr>
              <a:t>SELECT</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CASE</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WHEN f.is_beta_feature = 'True' THEN 'Beta Users'</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ELSE 'Non-Beta Users'</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END AS user_segment,</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COUNT(DISTINCT f.subscription_id) AS total_users,</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ROUND(AVG(f.usage_count), 2) AS avg_feature_usage,</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ROUND(AVG(f.usage_duration_secs) / 60, 2) AS avg_usage_minutes,</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SUM(CASE</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WHEN s.upgrade_flag = 'True' THEN 1</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ELSE 0</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END) AS upgraded_users,</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SUM(CASE</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WHEN s.churn_flag = 'True' THEN 1</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ELSE 0</a:t>
            </a:r>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END) AS churned_users,</a:t>
            </a:r>
          </a:p>
          <a:p>
            <a:r>
              <a:rPr lang="en-IN" sz="1400" dirty="0">
                <a:latin typeface="Consolas" panose="020B0609020204030204" pitchFamily="49" charset="0"/>
                <a:cs typeface="Consolas" panose="020B0609020204030204" pitchFamily="49" charset="0"/>
              </a:rPr>
              <a:t> ROUND(</a:t>
            </a:r>
          </a:p>
          <a:p>
            <a:r>
              <a:rPr lang="en-IN" sz="1400" dirty="0">
                <a:latin typeface="Consolas" panose="020B0609020204030204" pitchFamily="49" charset="0"/>
                <a:cs typeface="Consolas" panose="020B0609020204030204" pitchFamily="49" charset="0"/>
              </a:rPr>
              <a:t>        (</a:t>
            </a:r>
          </a:p>
          <a:p>
            <a:r>
              <a:rPr lang="en-IN" sz="1400" dirty="0">
                <a:latin typeface="Consolas" panose="020B0609020204030204" pitchFamily="49" charset="0"/>
                <a:cs typeface="Consolas" panose="020B0609020204030204" pitchFamily="49" charset="0"/>
              </a:rPr>
              <a:t>            SUM(CASE</a:t>
            </a:r>
          </a:p>
          <a:p>
            <a:r>
              <a:rPr lang="en-IN" sz="1400" dirty="0">
                <a:latin typeface="Consolas" panose="020B0609020204030204" pitchFamily="49" charset="0"/>
                <a:cs typeface="Consolas" panose="020B0609020204030204" pitchFamily="49" charset="0"/>
              </a:rPr>
              <a:t>                    WHEN s.churn_flag = 'True' THEN 1</a:t>
            </a:r>
          </a:p>
          <a:p>
            <a:r>
              <a:rPr lang="en-IN" sz="1400" dirty="0">
                <a:latin typeface="Consolas" panose="020B0609020204030204" pitchFamily="49" charset="0"/>
                <a:cs typeface="Consolas" panose="020B0609020204030204" pitchFamily="49" charset="0"/>
              </a:rPr>
              <a:t>                    ELSE 0</a:t>
            </a:r>
          </a:p>
          <a:p>
            <a:r>
              <a:rPr lang="en-IN" sz="1400" dirty="0">
                <a:latin typeface="Consolas" panose="020B0609020204030204" pitchFamily="49" charset="0"/>
                <a:cs typeface="Consolas" panose="020B0609020204030204" pitchFamily="49" charset="0"/>
              </a:rPr>
              <a:t>                END) * 100.0</a:t>
            </a:r>
          </a:p>
          <a:p>
            <a:r>
              <a:rPr lang="en-IN" sz="1400" dirty="0">
                <a:latin typeface="Consolas" panose="020B0609020204030204" pitchFamily="49" charset="0"/>
                <a:cs typeface="Consolas" panose="020B0609020204030204" pitchFamily="49" charset="0"/>
              </a:rPr>
              <a:t>        ) / COUNT(DISTINCT f.subscription_id),</a:t>
            </a:r>
          </a:p>
          <a:p>
            <a:r>
              <a:rPr lang="en-IN" sz="1400" dirty="0">
                <a:latin typeface="Consolas" panose="020B0609020204030204" pitchFamily="49" charset="0"/>
                <a:cs typeface="Consolas" panose="020B0609020204030204" pitchFamily="49" charset="0"/>
              </a:rPr>
              <a:t>        2</a:t>
            </a:r>
          </a:p>
          <a:p>
            <a:r>
              <a:rPr lang="en-IN" sz="1400" dirty="0">
                <a:latin typeface="Consolas" panose="020B0609020204030204" pitchFamily="49" charset="0"/>
                <a:cs typeface="Consolas" panose="020B0609020204030204" pitchFamily="49" charset="0"/>
              </a:rPr>
              <a:t>    ) AS churn_rate</a:t>
            </a:r>
          </a:p>
          <a:p>
            <a:r>
              <a:rPr lang="en-IN" sz="1400" dirty="0">
                <a:latin typeface="Consolas" panose="020B0609020204030204" pitchFamily="49" charset="0"/>
                <a:cs typeface="Consolas" panose="020B0609020204030204" pitchFamily="49" charset="0"/>
              </a:rPr>
              <a:t>FROM feature_usage f</a:t>
            </a:r>
          </a:p>
          <a:p>
            <a:r>
              <a:rPr lang="en-IN" sz="1400" dirty="0">
                <a:latin typeface="Consolas" panose="020B0609020204030204" pitchFamily="49" charset="0"/>
                <a:cs typeface="Consolas" panose="020B0609020204030204" pitchFamily="49" charset="0"/>
              </a:rPr>
              <a:t>JOIN subscriptions s</a:t>
            </a:r>
          </a:p>
          <a:p>
            <a:r>
              <a:rPr lang="en-IN" sz="1400" dirty="0">
                <a:latin typeface="Consolas" panose="020B0609020204030204" pitchFamily="49" charset="0"/>
                <a:cs typeface="Consolas" panose="020B0609020204030204" pitchFamily="49" charset="0"/>
              </a:rPr>
              <a:t>    ON f.subscription_id = s.subscription_id</a:t>
            </a:r>
          </a:p>
          <a:p>
            <a:r>
              <a:rPr lang="en-IN" sz="1400" dirty="0">
                <a:latin typeface="Consolas" panose="020B0609020204030204" pitchFamily="49" charset="0"/>
                <a:cs typeface="Consolas" panose="020B0609020204030204" pitchFamily="49" charset="0"/>
              </a:rPr>
              <a:t>GROUP BY user_segment;</a:t>
            </a:r>
          </a:p>
          <a:p>
            <a:br>
              <a:rPr lang="en-IN" sz="1400" dirty="0">
                <a:latin typeface="Consolas" panose="020B0609020204030204" pitchFamily="49" charset="0"/>
                <a:cs typeface="Consolas" panose="020B0609020204030204" pitchFamily="49" charset="0"/>
              </a:rPr>
            </a:br>
            <a:endParaRPr lang="en-US" sz="1400" dirty="0">
              <a:latin typeface="Consolas" panose="020B0609020204030204" pitchFamily="49" charset="0"/>
              <a:cs typeface="Consolas" panose="020B0609020204030204" pitchFamily="49" charset="0"/>
            </a:endParaRPr>
          </a:p>
          <a:p>
            <a:endParaRPr lang="en-IN" sz="1400" b="0" dirty="0">
              <a:effectLst/>
              <a:latin typeface="Consolas" panose="020B0609020204030204" pitchFamily="49" charset="0"/>
              <a:cs typeface="Consolas" panose="020B0609020204030204" pitchFamily="49" charset="0"/>
            </a:endParaRPr>
          </a:p>
          <a:p>
            <a:r>
              <a:rPr lang="en-IN"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pic>
        <p:nvPicPr>
          <p:cNvPr id="3" name="Picture 2">
            <a:extLst>
              <a:ext uri="{FF2B5EF4-FFF2-40B4-BE49-F238E27FC236}">
                <a16:creationId xmlns:a16="http://schemas.microsoft.com/office/drawing/2014/main" id="{7861B0B1-AAF8-BE75-FB0F-AA2A40E0A4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6676" y="2394735"/>
            <a:ext cx="7279439" cy="12121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7D5BAB7-5711-EF0F-9B1C-36BC15796FF8}"/>
              </a:ext>
            </a:extLst>
          </p:cNvPr>
          <p:cNvSpPr txBox="1"/>
          <p:nvPr/>
        </p:nvSpPr>
        <p:spPr>
          <a:xfrm>
            <a:off x="5138837" y="5461823"/>
            <a:ext cx="6917278" cy="2062103"/>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Users engaging with beta features demonstrate significantly </a:t>
            </a:r>
          </a:p>
          <a:p>
            <a:r>
              <a:rPr lang="en-IN" sz="1600" dirty="0">
                <a:latin typeface="Consolas" panose="020B0609020204030204" pitchFamily="49" charset="0"/>
                <a:cs typeface="Consolas" panose="020B0609020204030204" pitchFamily="49" charset="0"/>
              </a:rPr>
              <a:t>lower churn rates and stronger upgrade behaviour compared </a:t>
            </a:r>
          </a:p>
          <a:p>
            <a:r>
              <a:rPr lang="en-IN" sz="1600" dirty="0">
                <a:latin typeface="Consolas" panose="020B0609020204030204" pitchFamily="49" charset="0"/>
                <a:cs typeface="Consolas" panose="020B0609020204030204" pitchFamily="49" charset="0"/>
              </a:rPr>
              <a:t>to non-beta users, suggesting that advanced feature </a:t>
            </a:r>
          </a:p>
          <a:p>
            <a:r>
              <a:rPr lang="en-IN" sz="1600" dirty="0">
                <a:latin typeface="Consolas" panose="020B0609020204030204" pitchFamily="49" charset="0"/>
                <a:cs typeface="Consolas" panose="020B0609020204030204" pitchFamily="49" charset="0"/>
              </a:rPr>
              <a:t>adoption is strongly associated with long-term retention </a:t>
            </a:r>
          </a:p>
          <a:p>
            <a:r>
              <a:rPr lang="en-IN" sz="1600" dirty="0">
                <a:latin typeface="Consolas" panose="020B0609020204030204" pitchFamily="49" charset="0"/>
                <a:cs typeface="Consolas" panose="020B0609020204030204" pitchFamily="49" charset="0"/>
              </a:rPr>
              <a:t>and monetization potential.</a:t>
            </a:r>
          </a:p>
          <a:p>
            <a:br>
              <a:rPr lang="en-IN" sz="1600" dirty="0">
                <a:latin typeface="Consolas" panose="020B0609020204030204" pitchFamily="49" charset="0"/>
                <a:cs typeface="Consolas" panose="020B0609020204030204" pitchFamily="49" charset="0"/>
              </a:rPr>
            </a:br>
            <a:endParaRPr lang="en-US" sz="1600" dirty="0">
              <a:latin typeface="Consolas" panose="020B0609020204030204" pitchFamily="49" charset="0"/>
              <a:cs typeface="Consolas" panose="020B0609020204030204" pitchFamily="49" charset="0"/>
            </a:endParaRPr>
          </a:p>
          <a:p>
            <a:endParaRPr lang="en-US" sz="1600" dirty="0"/>
          </a:p>
        </p:txBody>
      </p:sp>
    </p:spTree>
    <p:extLst>
      <p:ext uri="{BB962C8B-B14F-4D97-AF65-F5344CB8AC3E}">
        <p14:creationId xmlns:p14="http://schemas.microsoft.com/office/powerpoint/2010/main" val="180133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6F8807F-FB7E-87C8-1665-C9358DA04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298D8-3041-B65A-1681-712569062397}"/>
              </a:ext>
            </a:extLst>
          </p:cNvPr>
          <p:cNvSpPr>
            <a:spLocks noGrp="1"/>
          </p:cNvSpPr>
          <p:nvPr>
            <p:ph type="title"/>
          </p:nvPr>
        </p:nvSpPr>
        <p:spPr>
          <a:xfrm>
            <a:off x="838200" y="365125"/>
            <a:ext cx="10515600" cy="1210457"/>
          </a:xfrm>
        </p:spPr>
        <p:txBody>
          <a:bodyPr>
            <a:normAutofit fontScale="90000"/>
          </a:bodyPr>
          <a:lstStyle/>
          <a:p>
            <a:pPr algn="ct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BF05911-421F-BAA4-C083-2DD0A1BEB303}"/>
              </a:ext>
            </a:extLst>
          </p:cNvPr>
          <p:cNvSpPr txBox="1"/>
          <p:nvPr/>
        </p:nvSpPr>
        <p:spPr>
          <a:xfrm>
            <a:off x="838200" y="227740"/>
            <a:ext cx="7909538"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7(a). User Engagement vs Upgrade / Downgrade / Churn Behavior</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DE786643-66B9-D381-4531-9733E9D93AA8}"/>
              </a:ext>
            </a:extLst>
          </p:cNvPr>
          <p:cNvSpPr txBox="1"/>
          <p:nvPr/>
        </p:nvSpPr>
        <p:spPr>
          <a:xfrm>
            <a:off x="0" y="734457"/>
            <a:ext cx="12192000" cy="2308324"/>
          </a:xfrm>
          <a:prstGeom prst="rect">
            <a:avLst/>
          </a:prstGeom>
          <a:noFill/>
        </p:spPr>
        <p:txBody>
          <a:bodyPr wrap="square" rtlCol="0">
            <a:spAutoFit/>
          </a:bodyPr>
          <a:lstStyle/>
          <a:p>
            <a:r>
              <a:rPr lang="en-IN" sz="2400" b="1" dirty="0">
                <a:latin typeface="Calibri" panose="020F0502020204030204" pitchFamily="34" charset="0"/>
                <a:cs typeface="Calibri" panose="020F0502020204030204" pitchFamily="34" charset="0"/>
              </a:rPr>
              <a:t>  “Do users who engage with beta features demonstrate stronger engagement and retention behaviour?”</a:t>
            </a:r>
            <a:endParaRPr lang="en-IN" sz="2400" b="1" dirty="0">
              <a:effectLst/>
              <a:latin typeface="Calibri" panose="020F0502020204030204" pitchFamily="34" charset="0"/>
              <a:cs typeface="Calibri" panose="020F0502020204030204" pitchFamily="34" charset="0"/>
            </a:endParaRPr>
          </a:p>
          <a:p>
            <a:br>
              <a:rPr lang="en-IN" sz="2400" b="1" dirty="0">
                <a:latin typeface="Calibri" panose="020F0502020204030204" pitchFamily="34" charset="0"/>
                <a:cs typeface="Calibri" panose="020F0502020204030204" pitchFamily="34" charset="0"/>
              </a:rPr>
            </a:br>
            <a:br>
              <a:rPr lang="en-IN" sz="2400" b="1" dirty="0">
                <a:latin typeface="Calibri" panose="020F0502020204030204" pitchFamily="34" charset="0"/>
                <a:cs typeface="Calibri" panose="020F0502020204030204" pitchFamily="34" charset="0"/>
              </a:rPr>
            </a:br>
            <a:br>
              <a:rPr lang="en-IN" sz="2400" b="1" dirty="0">
                <a:latin typeface="Calibri" panose="020F0502020204030204" pitchFamily="34" charset="0"/>
                <a:cs typeface="Calibri" panose="020F0502020204030204" pitchFamily="34" charset="0"/>
              </a:rPr>
            </a:br>
            <a:endParaRPr lang="en-US" sz="24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7398C665-C655-673C-5F4D-633CE589A61D}"/>
              </a:ext>
            </a:extLst>
          </p:cNvPr>
          <p:cNvSpPr txBox="1"/>
          <p:nvPr/>
        </p:nvSpPr>
        <p:spPr>
          <a:xfrm>
            <a:off x="0" y="1444499"/>
            <a:ext cx="8488221" cy="3847207"/>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SELECT </a:t>
            </a:r>
          </a:p>
          <a:p>
            <a:r>
              <a:rPr lang="en-IN" sz="1600" dirty="0">
                <a:latin typeface="Consolas" panose="020B0609020204030204" pitchFamily="49" charset="0"/>
                <a:cs typeface="Consolas" panose="020B0609020204030204" pitchFamily="49" charset="0"/>
              </a:rPr>
              <a:t> s.subscription_id,</a:t>
            </a:r>
          </a:p>
          <a:p>
            <a:r>
              <a:rPr lang="en-IN" sz="1600" dirty="0">
                <a:latin typeface="Consolas" panose="020B0609020204030204" pitchFamily="49" charset="0"/>
                <a:cs typeface="Consolas" panose="020B0609020204030204" pitchFamily="49" charset="0"/>
              </a:rPr>
              <a:t> s.plan_tier,    </a:t>
            </a:r>
          </a:p>
          <a:p>
            <a:r>
              <a:rPr lang="en-IN" sz="1600" dirty="0">
                <a:latin typeface="Consolas" panose="020B0609020204030204" pitchFamily="49" charset="0"/>
                <a:cs typeface="Consolas" panose="020B0609020204030204" pitchFamily="49" charset="0"/>
              </a:rPr>
              <a:t> SUM(f.usage_count) AS total_usage,</a:t>
            </a:r>
          </a:p>
          <a:p>
            <a:r>
              <a:rPr lang="en-IN" sz="1600" dirty="0">
                <a:latin typeface="Consolas" panose="020B0609020204030204" pitchFamily="49" charset="0"/>
                <a:cs typeface="Consolas" panose="020B0609020204030204" pitchFamily="49" charset="0"/>
              </a:rPr>
              <a:t> ROUND(SUM(f.usage_duration_secs) / 60.0, 2) AS total_time_minutes,</a:t>
            </a:r>
          </a:p>
          <a:p>
            <a:r>
              <a:rPr lang="en-IN" sz="1600" dirty="0">
                <a:latin typeface="Consolas" panose="020B0609020204030204" pitchFamily="49" charset="0"/>
                <a:cs typeface="Consolas" panose="020B0609020204030204" pitchFamily="49" charset="0"/>
              </a:rPr>
              <a:t> SUM(f.error_count) AS total_errors,  </a:t>
            </a:r>
          </a:p>
          <a:p>
            <a:r>
              <a:rPr lang="en-IN" sz="1600" dirty="0">
                <a:latin typeface="Consolas" panose="020B0609020204030204" pitchFamily="49" charset="0"/>
                <a:cs typeface="Consolas" panose="020B0609020204030204" pitchFamily="49" charset="0"/>
              </a:rPr>
              <a:t> SUM(CASE WHEN s.upgrade_flag = 'True' THEN 1 ELSE 0 END) AS upgrades,</a:t>
            </a:r>
          </a:p>
          <a:p>
            <a:r>
              <a:rPr lang="en-IN" sz="1600" dirty="0">
                <a:latin typeface="Consolas" panose="020B0609020204030204" pitchFamily="49" charset="0"/>
                <a:cs typeface="Consolas" panose="020B0609020204030204" pitchFamily="49" charset="0"/>
              </a:rPr>
              <a:t> SUM(CASE WHEN s.downgrade_flag = 'True' THEN 1 ELSE 0 END) AS downgrades,</a:t>
            </a:r>
          </a:p>
          <a:p>
            <a:r>
              <a:rPr lang="en-IN" sz="1600" dirty="0">
                <a:latin typeface="Consolas" panose="020B0609020204030204" pitchFamily="49" charset="0"/>
                <a:cs typeface="Consolas" panose="020B0609020204030204" pitchFamily="49" charset="0"/>
              </a:rPr>
              <a:t> SUM(CASE WHEN s.churn_flag = 'True' THEN 1 ELSE 0 END) AS churns</a:t>
            </a:r>
          </a:p>
          <a:p>
            <a:r>
              <a:rPr lang="en-IN" sz="1600" dirty="0">
                <a:latin typeface="Consolas" panose="020B0609020204030204" pitchFamily="49" charset="0"/>
                <a:cs typeface="Consolas" panose="020B0609020204030204" pitchFamily="49" charset="0"/>
              </a:rPr>
              <a:t>FROM subscriptions s</a:t>
            </a:r>
          </a:p>
          <a:p>
            <a:r>
              <a:rPr lang="en-IN" sz="1600" dirty="0">
                <a:latin typeface="Consolas" panose="020B0609020204030204" pitchFamily="49" charset="0"/>
                <a:cs typeface="Consolas" panose="020B0609020204030204" pitchFamily="49" charset="0"/>
              </a:rPr>
              <a:t>LEFT JOIN feature_usage f</a:t>
            </a:r>
          </a:p>
          <a:p>
            <a:r>
              <a:rPr lang="en-IN" sz="1600" dirty="0">
                <a:latin typeface="Consolas" panose="020B0609020204030204" pitchFamily="49" charset="0"/>
                <a:cs typeface="Consolas" panose="020B0609020204030204" pitchFamily="49" charset="0"/>
              </a:rPr>
              <a:t> ON s.subscription_id = f.subscription_id</a:t>
            </a:r>
          </a:p>
          <a:p>
            <a:r>
              <a:rPr lang="en-IN" sz="1600" dirty="0">
                <a:latin typeface="Consolas" panose="020B0609020204030204" pitchFamily="49" charset="0"/>
                <a:cs typeface="Consolas" panose="020B0609020204030204" pitchFamily="49" charset="0"/>
              </a:rPr>
              <a:t>GROUP BY s.subscription_id, s.plan_tier;</a:t>
            </a:r>
          </a:p>
          <a:p>
            <a:br>
              <a:rPr lang="en-IN" dirty="0">
                <a:latin typeface="Consolas" panose="020B0609020204030204" pitchFamily="49" charset="0"/>
                <a:cs typeface="Consolas" panose="020B0609020204030204" pitchFamily="49" charset="0"/>
              </a:rPr>
            </a:br>
            <a:endParaRPr lang="en-US" dirty="0">
              <a:latin typeface="Consolas" panose="020B0609020204030204" pitchFamily="49" charset="0"/>
              <a:cs typeface="Consolas" panose="020B0609020204030204" pitchFamily="49" charset="0"/>
            </a:endParaRPr>
          </a:p>
        </p:txBody>
      </p:sp>
      <p:pic>
        <p:nvPicPr>
          <p:cNvPr id="1026" name="Picture 2">
            <a:extLst>
              <a:ext uri="{FF2B5EF4-FFF2-40B4-BE49-F238E27FC236}">
                <a16:creationId xmlns:a16="http://schemas.microsoft.com/office/drawing/2014/main" id="{70C38833-BB7C-AA89-085A-16AFEDC0ED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8688" y="3824442"/>
            <a:ext cx="6772940" cy="26684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ADA442C-7214-5138-B3C5-E9143B6B97AE}"/>
              </a:ext>
            </a:extLst>
          </p:cNvPr>
          <p:cNvSpPr txBox="1"/>
          <p:nvPr/>
        </p:nvSpPr>
        <p:spPr>
          <a:xfrm>
            <a:off x="0" y="5364552"/>
            <a:ext cx="6145618" cy="1477328"/>
          </a:xfrm>
          <a:prstGeom prst="rect">
            <a:avLst/>
          </a:prstGeom>
          <a:noFill/>
        </p:spPr>
        <p:txBody>
          <a:bodyPr wrap="square">
            <a:spAutoFit/>
          </a:bodyPr>
          <a:lstStyle/>
          <a:p>
            <a:r>
              <a:rPr lang="en-IN" sz="1800" i="0" u="none" strike="noStrike" dirty="0">
                <a:solidFill>
                  <a:srgbClr val="000000"/>
                </a:solidFill>
                <a:effectLst/>
                <a:latin typeface="Consolas" panose="020B0609020204030204" pitchFamily="49" charset="0"/>
                <a:cs typeface="Consolas" panose="020B0609020204030204" pitchFamily="49" charset="0"/>
              </a:rPr>
              <a:t>This query aggregates subscription-level behavioural signals by combining usage intensity, error patterns, and lifecycle </a:t>
            </a:r>
          </a:p>
          <a:p>
            <a:r>
              <a:rPr lang="en-IN" sz="1800" i="0" u="none" strike="noStrike" dirty="0">
                <a:solidFill>
                  <a:srgbClr val="000000"/>
                </a:solidFill>
                <a:effectLst/>
                <a:latin typeface="Consolas" panose="020B0609020204030204" pitchFamily="49" charset="0"/>
                <a:cs typeface="Consolas" panose="020B0609020204030204" pitchFamily="49" charset="0"/>
              </a:rPr>
              <a:t>events like upgrade and churn to build a unified customer health profile.</a:t>
            </a:r>
            <a:endParaRPr lang="en-US" dirty="0">
              <a:latin typeface="Consolas" panose="020B0609020204030204" pitchFamily="49" charset="0"/>
              <a:cs typeface="Consolas" panose="020B0609020204030204" pitchFamily="49" charset="0"/>
            </a:endParaRPr>
          </a:p>
        </p:txBody>
      </p:sp>
      <p:sp>
        <p:nvSpPr>
          <p:cNvPr id="8" name="TextBox 7">
            <a:extLst>
              <a:ext uri="{FF2B5EF4-FFF2-40B4-BE49-F238E27FC236}">
                <a16:creationId xmlns:a16="http://schemas.microsoft.com/office/drawing/2014/main" id="{43267192-B66D-B173-F262-53A0C17A8CD0}"/>
              </a:ext>
            </a:extLst>
          </p:cNvPr>
          <p:cNvSpPr txBox="1"/>
          <p:nvPr/>
        </p:nvSpPr>
        <p:spPr>
          <a:xfrm>
            <a:off x="8453298" y="6445594"/>
            <a:ext cx="1200650" cy="369332"/>
          </a:xfrm>
          <a:prstGeom prst="rect">
            <a:avLst/>
          </a:prstGeom>
          <a:noFill/>
        </p:spPr>
        <p:txBody>
          <a:bodyPr wrap="none" rtlCol="0">
            <a:spAutoFit/>
          </a:bodyPr>
          <a:lstStyle/>
          <a:p>
            <a:r>
              <a:rPr lang="en-US" dirty="0"/>
              <a:t>5000 rows</a:t>
            </a:r>
          </a:p>
        </p:txBody>
      </p:sp>
    </p:spTree>
    <p:extLst>
      <p:ext uri="{BB962C8B-B14F-4D97-AF65-F5344CB8AC3E}">
        <p14:creationId xmlns:p14="http://schemas.microsoft.com/office/powerpoint/2010/main" val="2410698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E0D5246-AC6E-EBB6-6632-348FD1B56D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466CE8-6B5D-F7A9-A800-92A79E1350D3}"/>
              </a:ext>
            </a:extLst>
          </p:cNvPr>
          <p:cNvSpPr>
            <a:spLocks noGrp="1"/>
          </p:cNvSpPr>
          <p:nvPr>
            <p:ph type="title"/>
          </p:nvPr>
        </p:nvSpPr>
        <p:spPr>
          <a:xfrm>
            <a:off x="838200" y="365125"/>
            <a:ext cx="10515600" cy="1210457"/>
          </a:xfrm>
        </p:spPr>
        <p:txBody>
          <a:bodyPr>
            <a:normAutofit fontScale="90000"/>
          </a:bodyPr>
          <a:lstStyle/>
          <a:p>
            <a:pPr algn="ctr"/>
            <a:br>
              <a:rPr lang="en-IN" sz="3200" b="1" dirty="0">
                <a:effectLst/>
                <a:latin typeface="Calibri" panose="020F0502020204030204" pitchFamily="34" charset="0"/>
                <a:cs typeface="Calibri" panose="020F0502020204030204" pitchFamily="34" charset="0"/>
              </a:rPr>
            </a:br>
            <a:br>
              <a:rPr lang="en-IN" sz="3200" b="1" dirty="0">
                <a:effectLst/>
              </a:rPr>
            </a:br>
            <a:endParaRPr lang="en-US" sz="32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5B20B9AA-FBF0-EBE0-3250-E8BB73F86D2D}"/>
              </a:ext>
            </a:extLst>
          </p:cNvPr>
          <p:cNvSpPr txBox="1"/>
          <p:nvPr/>
        </p:nvSpPr>
        <p:spPr>
          <a:xfrm>
            <a:off x="838200" y="227740"/>
            <a:ext cx="8036174"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7(b). User Engagement vs Upgrade / Downgrade / Churn Behaviour</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F6B0B767-D3E3-6892-6020-373370653E95}"/>
              </a:ext>
            </a:extLst>
          </p:cNvPr>
          <p:cNvSpPr txBox="1"/>
          <p:nvPr/>
        </p:nvSpPr>
        <p:spPr>
          <a:xfrm>
            <a:off x="0" y="734457"/>
            <a:ext cx="12192000" cy="1938992"/>
          </a:xfrm>
          <a:prstGeom prst="rect">
            <a:avLst/>
          </a:prstGeom>
          <a:noFill/>
        </p:spPr>
        <p:txBody>
          <a:bodyPr wrap="square" rtlCol="0">
            <a:spAutoFit/>
          </a:bodyPr>
          <a:lstStyle/>
          <a:p>
            <a:r>
              <a:rPr lang="en-IN" sz="2000" b="1" dirty="0">
                <a:latin typeface="Calibri" panose="020F0502020204030204" pitchFamily="34" charset="0"/>
                <a:cs typeface="Calibri" panose="020F0502020204030204" pitchFamily="34" charset="0"/>
              </a:rPr>
              <a:t>How do engagement intensity and product friction together influence customer lifecycle outcomes such as upgrades, downgrades, and churn?</a:t>
            </a:r>
          </a:p>
          <a:p>
            <a:br>
              <a:rPr lang="en-IN" sz="2000" b="1" dirty="0">
                <a:latin typeface="Calibri" panose="020F0502020204030204" pitchFamily="34" charset="0"/>
                <a:cs typeface="Calibri" panose="020F0502020204030204" pitchFamily="34" charset="0"/>
              </a:rPr>
            </a:br>
            <a:br>
              <a:rPr lang="en-IN" sz="2000" b="1" dirty="0">
                <a:latin typeface="Calibri" panose="020F0502020204030204" pitchFamily="34" charset="0"/>
                <a:cs typeface="Calibri" panose="020F0502020204030204" pitchFamily="34" charset="0"/>
              </a:rPr>
            </a:br>
            <a:br>
              <a:rPr lang="en-IN" sz="2000" b="1" dirty="0">
                <a:latin typeface="Calibri" panose="020F0502020204030204" pitchFamily="34" charset="0"/>
                <a:cs typeface="Calibri" panose="020F0502020204030204" pitchFamily="34" charset="0"/>
              </a:rPr>
            </a:br>
            <a:endParaRPr lang="en-US" sz="20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632BC9E-DDA1-A5D8-9F6B-9264E85A63DC}"/>
              </a:ext>
            </a:extLst>
          </p:cNvPr>
          <p:cNvSpPr txBox="1"/>
          <p:nvPr/>
        </p:nvSpPr>
        <p:spPr>
          <a:xfrm>
            <a:off x="0" y="1444499"/>
            <a:ext cx="8824852" cy="5509200"/>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SELECT </a:t>
            </a:r>
          </a:p>
          <a:p>
            <a:r>
              <a:rPr lang="en-IN" sz="1600" dirty="0">
                <a:latin typeface="Consolas" panose="020B0609020204030204" pitchFamily="49" charset="0"/>
                <a:cs typeface="Consolas" panose="020B0609020204030204" pitchFamily="49" charset="0"/>
              </a:rPr>
              <a:t>  CASE </a:t>
            </a:r>
          </a:p>
          <a:p>
            <a:r>
              <a:rPr lang="en-IN" sz="1600" dirty="0">
                <a:latin typeface="Consolas" panose="020B0609020204030204" pitchFamily="49" charset="0"/>
                <a:cs typeface="Consolas" panose="020B0609020204030204" pitchFamily="49" charset="0"/>
              </a:rPr>
              <a:t>    WHEN f.usage_count &lt;= 20 THEN 'Low Usage'</a:t>
            </a:r>
          </a:p>
          <a:p>
            <a:r>
              <a:rPr lang="en-IN" sz="1600" dirty="0">
                <a:latin typeface="Consolas" panose="020B0609020204030204" pitchFamily="49" charset="0"/>
                <a:cs typeface="Consolas" panose="020B0609020204030204" pitchFamily="49" charset="0"/>
              </a:rPr>
              <a:t>    WHEN f.usage_count BETWEEN 21 AND 60 THEN 'Medium Usage'</a:t>
            </a:r>
          </a:p>
          <a:p>
            <a:r>
              <a:rPr lang="en-IN" sz="1600" dirty="0">
                <a:latin typeface="Consolas" panose="020B0609020204030204" pitchFamily="49" charset="0"/>
                <a:cs typeface="Consolas" panose="020B0609020204030204" pitchFamily="49" charset="0"/>
              </a:rPr>
              <a:t>    ELSE 'High Usage'</a:t>
            </a:r>
          </a:p>
          <a:p>
            <a:r>
              <a:rPr lang="en-IN" sz="1600" dirty="0">
                <a:latin typeface="Consolas" panose="020B0609020204030204" pitchFamily="49" charset="0"/>
                <a:cs typeface="Consolas" panose="020B0609020204030204" pitchFamily="49" charset="0"/>
              </a:rPr>
              <a:t>    END AS usage_segment,</a:t>
            </a:r>
          </a:p>
          <a:p>
            <a:r>
              <a:rPr lang="en-IN" sz="1600" dirty="0">
                <a:latin typeface="Consolas" panose="020B0609020204030204" pitchFamily="49" charset="0"/>
                <a:cs typeface="Consolas" panose="020B0609020204030204" pitchFamily="49" charset="0"/>
              </a:rPr>
              <a:t>  CASE </a:t>
            </a:r>
          </a:p>
          <a:p>
            <a:r>
              <a:rPr lang="en-IN" sz="1600" dirty="0">
                <a:latin typeface="Consolas" panose="020B0609020204030204" pitchFamily="49" charset="0"/>
                <a:cs typeface="Consolas" panose="020B0609020204030204" pitchFamily="49" charset="0"/>
              </a:rPr>
              <a:t>    WHEN f.error_count = 0 THEN 'No Errors'</a:t>
            </a:r>
          </a:p>
          <a:p>
            <a:r>
              <a:rPr lang="en-IN" sz="1600" dirty="0">
                <a:latin typeface="Consolas" panose="020B0609020204030204" pitchFamily="49" charset="0"/>
                <a:cs typeface="Consolas" panose="020B0609020204030204" pitchFamily="49" charset="0"/>
              </a:rPr>
              <a:t>    WHEN f.error_count BETWEEN 1 AND 3 THEN 'Low Errors'</a:t>
            </a:r>
          </a:p>
          <a:p>
            <a:r>
              <a:rPr lang="en-IN" sz="1600" dirty="0">
                <a:latin typeface="Consolas" panose="020B0609020204030204" pitchFamily="49" charset="0"/>
                <a:cs typeface="Consolas" panose="020B0609020204030204" pitchFamily="49" charset="0"/>
              </a:rPr>
              <a:t>    ELSE 'High Errors'</a:t>
            </a:r>
          </a:p>
          <a:p>
            <a:r>
              <a:rPr lang="en-IN" sz="1600" dirty="0">
                <a:latin typeface="Consolas" panose="020B0609020204030204" pitchFamily="49" charset="0"/>
                <a:cs typeface="Consolas" panose="020B0609020204030204" pitchFamily="49" charset="0"/>
              </a:rPr>
              <a:t>  END AS error_segment,</a:t>
            </a:r>
          </a:p>
          <a:p>
            <a:r>
              <a:rPr lang="en-IN" sz="1600" dirty="0">
                <a:latin typeface="Consolas" panose="020B0609020204030204" pitchFamily="49" charset="0"/>
                <a:cs typeface="Consolas" panose="020B0609020204030204" pitchFamily="49" charset="0"/>
              </a:rPr>
              <a:t>  COUNT(DISTINCT s.subscription_id) AS total_users,</a:t>
            </a:r>
          </a:p>
          <a:p>
            <a:r>
              <a:rPr lang="en-IN" sz="1600" dirty="0">
                <a:latin typeface="Consolas" panose="020B0609020204030204" pitchFamily="49" charset="0"/>
                <a:cs typeface="Consolas" panose="020B0609020204030204" pitchFamily="49" charset="0"/>
              </a:rPr>
              <a:t>  SUM(CASE WHEN s.upgrade_flag = 'True' THEN 1 ELSE 0 END) AS upgrades,</a:t>
            </a:r>
          </a:p>
          <a:p>
            <a:r>
              <a:rPr lang="en-IN" sz="1600" dirty="0">
                <a:latin typeface="Consolas" panose="020B0609020204030204" pitchFamily="49" charset="0"/>
                <a:cs typeface="Consolas" panose="020B0609020204030204" pitchFamily="49" charset="0"/>
              </a:rPr>
              <a:t>  SUM(CASE WHEN s.downgrade_flag = 'True' THEN 1 ELSE 0 END) AS downgrades,</a:t>
            </a:r>
          </a:p>
          <a:p>
            <a:r>
              <a:rPr lang="en-IN" sz="1600" dirty="0">
                <a:latin typeface="Consolas" panose="020B0609020204030204" pitchFamily="49" charset="0"/>
                <a:cs typeface="Consolas" panose="020B0609020204030204" pitchFamily="49" charset="0"/>
              </a:rPr>
              <a:t>  SUM(CASE WHEN s.churn_flag = 'True' THEN 1 ELSE 0 END) AS churns</a:t>
            </a:r>
          </a:p>
          <a:p>
            <a:r>
              <a:rPr lang="en-IN" sz="1600" dirty="0">
                <a:latin typeface="Consolas" panose="020B0609020204030204" pitchFamily="49" charset="0"/>
                <a:cs typeface="Consolas" panose="020B0609020204030204" pitchFamily="49" charset="0"/>
              </a:rPr>
              <a:t>FROM subscriptions s</a:t>
            </a:r>
          </a:p>
          <a:p>
            <a:r>
              <a:rPr lang="en-IN" sz="1600" dirty="0">
                <a:latin typeface="Consolas" panose="020B0609020204030204" pitchFamily="49" charset="0"/>
                <a:cs typeface="Consolas" panose="020B0609020204030204" pitchFamily="49" charset="0"/>
              </a:rPr>
              <a:t>LEFT JOIN feature_usage f</a:t>
            </a:r>
          </a:p>
          <a:p>
            <a:r>
              <a:rPr lang="en-IN" sz="1600" dirty="0">
                <a:latin typeface="Consolas" panose="020B0609020204030204" pitchFamily="49" charset="0"/>
                <a:cs typeface="Consolas" panose="020B0609020204030204" pitchFamily="49" charset="0"/>
              </a:rPr>
              <a:t>    ON s.subscription_id = f.subscription_id</a:t>
            </a:r>
          </a:p>
          <a:p>
            <a:r>
              <a:rPr lang="en-IN" sz="1600" dirty="0">
                <a:latin typeface="Consolas" panose="020B0609020204030204" pitchFamily="49" charset="0"/>
                <a:cs typeface="Consolas" panose="020B0609020204030204" pitchFamily="49" charset="0"/>
              </a:rPr>
              <a:t>GROUP BY usage_segment, error_segment</a:t>
            </a:r>
          </a:p>
          <a:p>
            <a:r>
              <a:rPr lang="en-IN" sz="1600" dirty="0">
                <a:latin typeface="Consolas" panose="020B0609020204030204" pitchFamily="49" charset="0"/>
                <a:cs typeface="Consolas" panose="020B0609020204030204" pitchFamily="49" charset="0"/>
              </a:rPr>
              <a:t>ORDER BY upgrades DESC;</a:t>
            </a:r>
          </a:p>
          <a:p>
            <a:br>
              <a:rPr lang="en-IN" sz="1600" dirty="0">
                <a:latin typeface="Consolas" panose="020B0609020204030204" pitchFamily="49" charset="0"/>
                <a:cs typeface="Consolas" panose="020B0609020204030204" pitchFamily="49" charset="0"/>
              </a:rPr>
            </a:br>
            <a:endParaRPr lang="en-US" sz="1600" dirty="0">
              <a:latin typeface="Consolas" panose="020B0609020204030204" pitchFamily="49" charset="0"/>
              <a:cs typeface="Consolas" panose="020B0609020204030204" pitchFamily="49" charset="0"/>
            </a:endParaRPr>
          </a:p>
        </p:txBody>
      </p:sp>
      <p:pic>
        <p:nvPicPr>
          <p:cNvPr id="3074" name="Picture 2">
            <a:extLst>
              <a:ext uri="{FF2B5EF4-FFF2-40B4-BE49-F238E27FC236}">
                <a16:creationId xmlns:a16="http://schemas.microsoft.com/office/drawing/2014/main" id="{ED92494A-2D4E-3AEF-595B-5DFFCE5096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1432" y="2470150"/>
            <a:ext cx="5635257" cy="19177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3494058-262C-C241-5792-DCD76FE5A414}"/>
              </a:ext>
            </a:extLst>
          </p:cNvPr>
          <p:cNvSpPr txBox="1"/>
          <p:nvPr/>
        </p:nvSpPr>
        <p:spPr>
          <a:xfrm>
            <a:off x="6297133" y="5429931"/>
            <a:ext cx="6129668" cy="1200329"/>
          </a:xfrm>
          <a:prstGeom prst="rect">
            <a:avLst/>
          </a:prstGeom>
          <a:noFill/>
        </p:spPr>
        <p:txBody>
          <a:bodyPr wrap="square">
            <a:spAutoFit/>
          </a:bodyPr>
          <a:lstStyle/>
          <a:p>
            <a:r>
              <a:rPr lang="en-IN" dirty="0">
                <a:latin typeface="Consolas" panose="020B0609020204030204" pitchFamily="49" charset="0"/>
                <a:cs typeface="Consolas" panose="020B0609020204030204" pitchFamily="49" charset="0"/>
              </a:rPr>
              <a:t>Higher usage intensity does not always guarantee retention; instead, the combination of usage and error patterns better explains upgrades, downgrades, and churn behavior.</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79174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3B3F097-4B45-EEF7-5A4D-BEC1811D40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88427-30F1-01DB-162B-3929103ECEA3}"/>
              </a:ext>
            </a:extLst>
          </p:cNvPr>
          <p:cNvSpPr>
            <a:spLocks noGrp="1"/>
          </p:cNvSpPr>
          <p:nvPr>
            <p:ph type="title"/>
          </p:nvPr>
        </p:nvSpPr>
        <p:spPr>
          <a:xfrm>
            <a:off x="838200" y="595798"/>
            <a:ext cx="10515600" cy="1210457"/>
          </a:xfrm>
        </p:spPr>
        <p:txBody>
          <a:bodyPr>
            <a:noAutofit/>
          </a:bodyPr>
          <a:lstStyle/>
          <a:p>
            <a:pPr algn="ctr"/>
            <a:r>
              <a:rPr lang="en-IN" sz="2800" b="1" dirty="0">
                <a:latin typeface="Calibri" panose="020F0502020204030204" pitchFamily="34" charset="0"/>
                <a:cs typeface="Calibri" panose="020F0502020204030204" pitchFamily="34" charset="0"/>
              </a:rPr>
              <a:t>SECTION 4: CUSTOMER SUPPORT &amp; EXPERIENCE ANALYSIS</a:t>
            </a:r>
            <a:br>
              <a:rPr lang="en-IN" sz="2800" b="1" dirty="0">
                <a:latin typeface="Calibri" panose="020F0502020204030204" pitchFamily="34" charset="0"/>
                <a:cs typeface="Calibri" panose="020F0502020204030204" pitchFamily="34" charset="0"/>
              </a:rPr>
            </a:br>
            <a:br>
              <a:rPr lang="en-IN" sz="2800" b="1" dirty="0">
                <a:effectLst/>
                <a:latin typeface="Calibri" panose="020F0502020204030204" pitchFamily="34" charset="0"/>
                <a:cs typeface="Calibri" panose="020F0502020204030204" pitchFamily="34" charset="0"/>
              </a:rPr>
            </a:br>
            <a:br>
              <a:rPr lang="en-IN" sz="2800" b="1" dirty="0">
                <a:effectLst/>
                <a:latin typeface="Calibri" panose="020F0502020204030204" pitchFamily="34" charset="0"/>
                <a:cs typeface="Calibri" panose="020F0502020204030204" pitchFamily="34" charset="0"/>
              </a:rPr>
            </a:br>
            <a:br>
              <a:rPr lang="en-IN" sz="2800" b="1" dirty="0">
                <a:effectLst/>
                <a:latin typeface="Calibri" panose="020F0502020204030204" pitchFamily="34" charset="0"/>
                <a:cs typeface="Calibri" panose="020F0502020204030204" pitchFamily="34" charset="0"/>
              </a:rPr>
            </a:br>
            <a:endParaRPr lang="en-US" sz="2800" b="1"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DA891479-BD81-1362-A22D-04A1074B75E0}"/>
              </a:ext>
            </a:extLst>
          </p:cNvPr>
          <p:cNvSpPr txBox="1"/>
          <p:nvPr/>
        </p:nvSpPr>
        <p:spPr>
          <a:xfrm>
            <a:off x="956276" y="843836"/>
            <a:ext cx="8416086"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8. Support Load &amp; Satisfaction Across Plan Tiers and Churn Status</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D0E23787-24D1-FC9F-5678-08A204FEDC53}"/>
              </a:ext>
            </a:extLst>
          </p:cNvPr>
          <p:cNvSpPr txBox="1"/>
          <p:nvPr/>
        </p:nvSpPr>
        <p:spPr>
          <a:xfrm>
            <a:off x="0" y="1337992"/>
            <a:ext cx="12192000" cy="1015663"/>
          </a:xfrm>
          <a:prstGeom prst="rect">
            <a:avLst/>
          </a:prstGeom>
          <a:noFill/>
        </p:spPr>
        <p:txBody>
          <a:bodyPr wrap="square" rtlCol="0">
            <a:spAutoFit/>
          </a:bodyPr>
          <a:lstStyle/>
          <a:p>
            <a:r>
              <a:rPr lang="en-IN" sz="2000" b="1" dirty="0">
                <a:latin typeface="Calibri" panose="020F0502020204030204" pitchFamily="34" charset="0"/>
                <a:cs typeface="Calibri" panose="020F0502020204030204" pitchFamily="34" charset="0"/>
              </a:rPr>
              <a:t>How does customer support usage and satisfaction vary across plan tiers and churn behavior?</a:t>
            </a:r>
          </a:p>
          <a:p>
            <a:br>
              <a:rPr lang="en-IN" sz="2000" b="1" dirty="0">
                <a:latin typeface="Calibri" panose="020F0502020204030204" pitchFamily="34" charset="0"/>
                <a:cs typeface="Calibri" panose="020F0502020204030204" pitchFamily="34" charset="0"/>
              </a:rPr>
            </a:br>
            <a:endParaRPr lang="en-US" sz="20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125F49E-6641-35BC-6847-DCE522200F39}"/>
              </a:ext>
            </a:extLst>
          </p:cNvPr>
          <p:cNvSpPr txBox="1"/>
          <p:nvPr/>
        </p:nvSpPr>
        <p:spPr>
          <a:xfrm>
            <a:off x="0" y="1770115"/>
            <a:ext cx="9273693" cy="3293209"/>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SELECT</a:t>
            </a:r>
          </a:p>
          <a:p>
            <a:r>
              <a:rPr lang="en-IN" sz="1600" dirty="0">
                <a:latin typeface="Consolas" panose="020B0609020204030204" pitchFamily="49" charset="0"/>
                <a:cs typeface="Consolas" panose="020B0609020204030204" pitchFamily="49" charset="0"/>
              </a:rPr>
              <a:t>   s.plan_tier,</a:t>
            </a:r>
          </a:p>
          <a:p>
            <a:r>
              <a:rPr lang="en-IN" sz="1600" dirty="0">
                <a:latin typeface="Consolas" panose="020B0609020204030204" pitchFamily="49" charset="0"/>
                <a:cs typeface="Consolas" panose="020B0609020204030204" pitchFamily="49" charset="0"/>
              </a:rPr>
              <a:t>   s.churn_flag,</a:t>
            </a:r>
          </a:p>
          <a:p>
            <a:r>
              <a:rPr lang="en-IN" sz="1600" dirty="0">
                <a:latin typeface="Consolas" panose="020B0609020204030204" pitchFamily="49" charset="0"/>
                <a:cs typeface="Consolas" panose="020B0609020204030204" pitchFamily="49" charset="0"/>
              </a:rPr>
              <a:t>   COUNT(st.ticket_id) AS total_tickets,</a:t>
            </a:r>
          </a:p>
          <a:p>
            <a:r>
              <a:rPr lang="en-IN" sz="1600" dirty="0">
                <a:latin typeface="Consolas" panose="020B0609020204030204" pitchFamily="49" charset="0"/>
                <a:cs typeface="Consolas" panose="020B0609020204030204" pitchFamily="49" charset="0"/>
              </a:rPr>
              <a:t>   ROUND(AVG(st.resolution_time_hours::numeric), 2) AS avg_resolution_time_hours,</a:t>
            </a:r>
          </a:p>
          <a:p>
            <a:r>
              <a:rPr lang="en-IN" sz="1600" dirty="0">
                <a:latin typeface="Consolas" panose="020B0609020204030204" pitchFamily="49" charset="0"/>
                <a:cs typeface="Consolas" panose="020B0609020204030204" pitchFamily="49" charset="0"/>
              </a:rPr>
              <a:t>   ROUND(AVG(st.satisfaction_score::numeric), 2) AS avg_satisfaction_score</a:t>
            </a:r>
          </a:p>
          <a:p>
            <a:r>
              <a:rPr lang="en-IN" sz="1600" dirty="0">
                <a:latin typeface="Consolas" panose="020B0609020204030204" pitchFamily="49" charset="0"/>
                <a:cs typeface="Consolas" panose="020B0609020204030204" pitchFamily="49" charset="0"/>
              </a:rPr>
              <a:t>FROM subscriptions s</a:t>
            </a:r>
          </a:p>
          <a:p>
            <a:r>
              <a:rPr lang="en-IN" sz="1600" dirty="0">
                <a:latin typeface="Consolas" panose="020B0609020204030204" pitchFamily="49" charset="0"/>
                <a:cs typeface="Consolas" panose="020B0609020204030204" pitchFamily="49" charset="0"/>
              </a:rPr>
              <a:t>LEFT JOIN support_tickets st</a:t>
            </a:r>
          </a:p>
          <a:p>
            <a:r>
              <a:rPr lang="en-IN" sz="1600" dirty="0">
                <a:latin typeface="Consolas" panose="020B0609020204030204" pitchFamily="49" charset="0"/>
                <a:cs typeface="Consolas" panose="020B0609020204030204" pitchFamily="49" charset="0"/>
              </a:rPr>
              <a:t>   ON s.account_id = st.account_id</a:t>
            </a:r>
          </a:p>
          <a:p>
            <a:r>
              <a:rPr lang="en-IN" sz="1600" dirty="0">
                <a:latin typeface="Consolas" panose="020B0609020204030204" pitchFamily="49" charset="0"/>
                <a:cs typeface="Consolas" panose="020B0609020204030204" pitchFamily="49" charset="0"/>
              </a:rPr>
              <a:t>GROUP BY s.plan_tier, s.churn_flag</a:t>
            </a:r>
          </a:p>
          <a:p>
            <a:r>
              <a:rPr lang="en-IN" sz="1600" dirty="0">
                <a:latin typeface="Consolas" panose="020B0609020204030204" pitchFamily="49" charset="0"/>
                <a:cs typeface="Consolas" panose="020B0609020204030204" pitchFamily="49" charset="0"/>
              </a:rPr>
              <a:t>ORDER BY s.plan_tier;</a:t>
            </a:r>
          </a:p>
          <a:p>
            <a:br>
              <a:rPr lang="en-IN" sz="1600" dirty="0">
                <a:latin typeface="Consolas" panose="020B0609020204030204" pitchFamily="49" charset="0"/>
                <a:cs typeface="Consolas" panose="020B0609020204030204" pitchFamily="49" charset="0"/>
              </a:rPr>
            </a:br>
            <a:endParaRPr lang="en-IN" sz="1600" b="0" dirty="0">
              <a:effectLst/>
              <a:latin typeface="Consolas" panose="020B0609020204030204" pitchFamily="49" charset="0"/>
              <a:cs typeface="Consolas" panose="020B0609020204030204" pitchFamily="49" charset="0"/>
            </a:endParaRPr>
          </a:p>
        </p:txBody>
      </p:sp>
      <p:pic>
        <p:nvPicPr>
          <p:cNvPr id="4098" name="Picture 2">
            <a:extLst>
              <a:ext uri="{FF2B5EF4-FFF2-40B4-BE49-F238E27FC236}">
                <a16:creationId xmlns:a16="http://schemas.microsoft.com/office/drawing/2014/main" id="{D41C582C-6176-02A1-0EB0-5DAAE30DC2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9861" y="3366742"/>
            <a:ext cx="7783033" cy="215326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B315109-71E2-F8B0-AAF1-15D9D217FF5B}"/>
              </a:ext>
            </a:extLst>
          </p:cNvPr>
          <p:cNvSpPr txBox="1"/>
          <p:nvPr/>
        </p:nvSpPr>
        <p:spPr>
          <a:xfrm>
            <a:off x="0" y="5686373"/>
            <a:ext cx="12527788" cy="1323439"/>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Support experience alone may not be the primary driver of churn in this dataset. Churned and active users </a:t>
            </a:r>
          </a:p>
          <a:p>
            <a:r>
              <a:rPr lang="en-IN" sz="1600" dirty="0">
                <a:latin typeface="Consolas" panose="020B0609020204030204" pitchFamily="49" charset="0"/>
                <a:cs typeface="Consolas" panose="020B0609020204030204" pitchFamily="49" charset="0"/>
              </a:rPr>
              <a:t>show nearly identical usage and error patterns. This indicates that churn is not driven by engagement volume </a:t>
            </a:r>
          </a:p>
          <a:p>
            <a:r>
              <a:rPr lang="en-IN" sz="1600" dirty="0">
                <a:latin typeface="Consolas" panose="020B0609020204030204" pitchFamily="49" charset="0"/>
                <a:cs typeface="Consolas" panose="020B0609020204030204" pitchFamily="49" charset="0"/>
              </a:rPr>
              <a:t>or system errors, but likely by deeper factors such as perceived value, pricing sensitivity, or unmet product </a:t>
            </a:r>
          </a:p>
          <a:p>
            <a:r>
              <a:rPr lang="en-IN" sz="1600" dirty="0">
                <a:latin typeface="Consolas" panose="020B0609020204030204" pitchFamily="49" charset="0"/>
                <a:cs typeface="Consolas" panose="020B0609020204030204" pitchFamily="49" charset="0"/>
              </a:rPr>
              <a:t>expectations. </a:t>
            </a:r>
          </a:p>
          <a:p>
            <a:endParaRPr lang="en-US"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752935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FF76A41-E3CD-6C23-E389-6DF7DCE27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73A3B-E115-1A56-6AC6-C3111A092562}"/>
              </a:ext>
            </a:extLst>
          </p:cNvPr>
          <p:cNvSpPr>
            <a:spLocks noGrp="1"/>
          </p:cNvSpPr>
          <p:nvPr>
            <p:ph type="title"/>
          </p:nvPr>
        </p:nvSpPr>
        <p:spPr>
          <a:xfrm>
            <a:off x="838200" y="-218111"/>
            <a:ext cx="10515600" cy="1210457"/>
          </a:xfrm>
        </p:spPr>
        <p:txBody>
          <a:bodyPr>
            <a:noAutofit/>
          </a:bodyPr>
          <a:lstStyle/>
          <a:p>
            <a:pPr algn="ctr"/>
            <a:r>
              <a:rPr lang="en-IN" sz="2800" b="1" dirty="0">
                <a:latin typeface="Calibri" panose="020F0502020204030204" pitchFamily="34" charset="0"/>
                <a:cs typeface="Calibri" panose="020F0502020204030204" pitchFamily="34" charset="0"/>
              </a:rPr>
              <a:t>SECTION 5: RETENTION &amp; GROWTH BEHAVIOR</a:t>
            </a:r>
            <a:endParaRPr lang="en-IN" sz="2800" b="1" dirty="0">
              <a:effectLs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667B990A-F062-6DCA-95A1-0669CEBC867C}"/>
              </a:ext>
            </a:extLst>
          </p:cNvPr>
          <p:cNvSpPr txBox="1"/>
          <p:nvPr/>
        </p:nvSpPr>
        <p:spPr>
          <a:xfrm>
            <a:off x="972482" y="623014"/>
            <a:ext cx="5123518"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9. Cohort-Based User Activity Over Time</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763CCC2C-6858-9080-F2BB-2BBE4918E04B}"/>
              </a:ext>
            </a:extLst>
          </p:cNvPr>
          <p:cNvSpPr txBox="1"/>
          <p:nvPr/>
        </p:nvSpPr>
        <p:spPr>
          <a:xfrm>
            <a:off x="0" y="992346"/>
            <a:ext cx="12192000" cy="1015663"/>
          </a:xfrm>
          <a:prstGeom prst="rect">
            <a:avLst/>
          </a:prstGeom>
          <a:noFill/>
        </p:spPr>
        <p:txBody>
          <a:bodyPr wrap="square" rtlCol="0">
            <a:spAutoFit/>
          </a:bodyPr>
          <a:lstStyle/>
          <a:p>
            <a:r>
              <a:rPr lang="en-IN" sz="2000" b="1" dirty="0">
                <a:latin typeface="Calibri" panose="020F0502020204030204" pitchFamily="34" charset="0"/>
                <a:cs typeface="Calibri" panose="020F0502020204030204" pitchFamily="34" charset="0"/>
              </a:rPr>
              <a:t> How do user cohorts behave over time in terms of product activity and retention patterns?</a:t>
            </a:r>
          </a:p>
          <a:p>
            <a:br>
              <a:rPr lang="en-IN" sz="2000" b="1" dirty="0">
                <a:latin typeface="Calibri" panose="020F0502020204030204" pitchFamily="34" charset="0"/>
                <a:cs typeface="Calibri" panose="020F0502020204030204" pitchFamily="34" charset="0"/>
              </a:rPr>
            </a:br>
            <a:endParaRPr lang="en-US" sz="20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15464BE-BA2E-8569-9A73-F1A761049DD7}"/>
              </a:ext>
            </a:extLst>
          </p:cNvPr>
          <p:cNvSpPr txBox="1"/>
          <p:nvPr/>
        </p:nvSpPr>
        <p:spPr>
          <a:xfrm>
            <a:off x="0" y="1361678"/>
            <a:ext cx="9049272" cy="5262979"/>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WITH active_months AS (</a:t>
            </a:r>
          </a:p>
          <a:p>
            <a:r>
              <a:rPr lang="en-IN" sz="1600" dirty="0">
                <a:latin typeface="Consolas" panose="020B0609020204030204" pitchFamily="49" charset="0"/>
                <a:cs typeface="Consolas" panose="020B0609020204030204" pitchFamily="49" charset="0"/>
              </a:rPr>
              <a:t> SELECT DISTINCT</a:t>
            </a:r>
          </a:p>
          <a:p>
            <a:r>
              <a:rPr lang="en-IN" sz="1600" dirty="0">
                <a:latin typeface="Consolas" panose="020B0609020204030204" pitchFamily="49" charset="0"/>
                <a:cs typeface="Consolas" panose="020B0609020204030204" pitchFamily="49" charset="0"/>
              </a:rPr>
              <a:t>  a.account_id,</a:t>
            </a:r>
          </a:p>
          <a:p>
            <a:r>
              <a:rPr lang="en-IN" sz="1600" dirty="0">
                <a:latin typeface="Consolas" panose="020B0609020204030204" pitchFamily="49" charset="0"/>
                <a:cs typeface="Consolas" panose="020B0609020204030204" pitchFamily="49" charset="0"/>
              </a:rPr>
              <a:t>  TO_CHAR(DATE_TRUNC('month', a.signup_date::date), 'YYYY-MM') AS cohort_month,</a:t>
            </a:r>
          </a:p>
          <a:p>
            <a:r>
              <a:rPr lang="en-IN" sz="1600" dirty="0">
                <a:latin typeface="Consolas" panose="020B0609020204030204" pitchFamily="49" charset="0"/>
                <a:cs typeface="Consolas" panose="020B0609020204030204" pitchFamily="49" charset="0"/>
              </a:rPr>
              <a:t>  TO_CHAR(DATE_TRUNC('month', f.usage_date::date), 'YYYY-MM') AS activity_month</a:t>
            </a:r>
          </a:p>
          <a:p>
            <a:r>
              <a:rPr lang="en-IN" sz="1600" dirty="0">
                <a:latin typeface="Consolas" panose="020B0609020204030204" pitchFamily="49" charset="0"/>
                <a:cs typeface="Consolas" panose="020B0609020204030204" pitchFamily="49" charset="0"/>
              </a:rPr>
              <a:t> FROM accounts a</a:t>
            </a:r>
          </a:p>
          <a:p>
            <a:r>
              <a:rPr lang="en-IN" sz="1600" dirty="0">
                <a:latin typeface="Consolas" panose="020B0609020204030204" pitchFamily="49" charset="0"/>
                <a:cs typeface="Consolas" panose="020B0609020204030204" pitchFamily="49" charset="0"/>
              </a:rPr>
              <a:t> JOIN subscriptions s</a:t>
            </a:r>
          </a:p>
          <a:p>
            <a:r>
              <a:rPr lang="en-IN" sz="1600" dirty="0">
                <a:latin typeface="Consolas" panose="020B0609020204030204" pitchFamily="49" charset="0"/>
                <a:cs typeface="Consolas" panose="020B0609020204030204" pitchFamily="49" charset="0"/>
              </a:rPr>
              <a:t>   ON a.account_id = s.account_id</a:t>
            </a:r>
          </a:p>
          <a:p>
            <a:r>
              <a:rPr lang="en-IN" sz="1600" dirty="0">
                <a:latin typeface="Consolas" panose="020B0609020204030204" pitchFamily="49" charset="0"/>
                <a:cs typeface="Consolas" panose="020B0609020204030204" pitchFamily="49" charset="0"/>
              </a:rPr>
              <a:t> JOIN feature_usage f</a:t>
            </a:r>
          </a:p>
          <a:p>
            <a:r>
              <a:rPr lang="en-IN" sz="1600" dirty="0">
                <a:latin typeface="Consolas" panose="020B0609020204030204" pitchFamily="49" charset="0"/>
                <a:cs typeface="Consolas" panose="020B0609020204030204" pitchFamily="49" charset="0"/>
              </a:rPr>
              <a:t>   ON s.subscription_id = f.subscription_id</a:t>
            </a:r>
          </a:p>
          <a:p>
            <a:r>
              <a:rPr lang="en-IN" sz="1600" dirty="0">
                <a:latin typeface="Consolas" panose="020B0609020204030204" pitchFamily="49" charset="0"/>
                <a:cs typeface="Consolas" panose="020B0609020204030204" pitchFamily="49" charset="0"/>
              </a:rPr>
              <a:t>  WHERE f.usage_date::date &gt;= a.signup_date::date</a:t>
            </a:r>
          </a:p>
          <a:p>
            <a:r>
              <a:rPr lang="en-IN" sz="1600" dirty="0">
                <a:latin typeface="Consolas" panose="020B0609020204030204" pitchFamily="49" charset="0"/>
                <a:cs typeface="Consolas" panose="020B0609020204030204" pitchFamily="49" charset="0"/>
              </a:rPr>
              <a:t>)</a:t>
            </a:r>
          </a:p>
          <a:p>
            <a:r>
              <a:rPr lang="en-IN" sz="1600" dirty="0">
                <a:latin typeface="Consolas" panose="020B0609020204030204" pitchFamily="49" charset="0"/>
                <a:cs typeface="Consolas" panose="020B0609020204030204" pitchFamily="49" charset="0"/>
              </a:rPr>
              <a:t>SELECT</a:t>
            </a:r>
          </a:p>
          <a:p>
            <a:r>
              <a:rPr lang="en-IN" sz="1600" dirty="0">
                <a:latin typeface="Consolas" panose="020B0609020204030204" pitchFamily="49" charset="0"/>
                <a:cs typeface="Consolas" panose="020B0609020204030204" pitchFamily="49" charset="0"/>
              </a:rPr>
              <a:t>  cohort_month,</a:t>
            </a:r>
          </a:p>
          <a:p>
            <a:r>
              <a:rPr lang="en-IN" sz="1600" dirty="0">
                <a:latin typeface="Consolas" panose="020B0609020204030204" pitchFamily="49" charset="0"/>
                <a:cs typeface="Consolas" panose="020B0609020204030204" pitchFamily="49" charset="0"/>
              </a:rPr>
              <a:t>  activity_month,</a:t>
            </a:r>
          </a:p>
          <a:p>
            <a:r>
              <a:rPr lang="en-IN" sz="1600" dirty="0">
                <a:latin typeface="Consolas" panose="020B0609020204030204" pitchFamily="49" charset="0"/>
                <a:cs typeface="Consolas" panose="020B0609020204030204" pitchFamily="49" charset="0"/>
              </a:rPr>
              <a:t>  COUNT(DISTINCT account_id) AS active_users</a:t>
            </a:r>
          </a:p>
          <a:p>
            <a:r>
              <a:rPr lang="en-IN" sz="1600" dirty="0">
                <a:latin typeface="Consolas" panose="020B0609020204030204" pitchFamily="49" charset="0"/>
                <a:cs typeface="Consolas" panose="020B0609020204030204" pitchFamily="49" charset="0"/>
              </a:rPr>
              <a:t>FROM active_months</a:t>
            </a:r>
          </a:p>
          <a:p>
            <a:r>
              <a:rPr lang="en-IN" sz="1600" dirty="0">
                <a:latin typeface="Consolas" panose="020B0609020204030204" pitchFamily="49" charset="0"/>
                <a:cs typeface="Consolas" panose="020B0609020204030204" pitchFamily="49" charset="0"/>
              </a:rPr>
              <a:t>GROUP BY cohort_month, activity_month</a:t>
            </a:r>
          </a:p>
          <a:p>
            <a:r>
              <a:rPr lang="en-IN" sz="1600" dirty="0">
                <a:latin typeface="Consolas" panose="020B0609020204030204" pitchFamily="49" charset="0"/>
                <a:cs typeface="Consolas" panose="020B0609020204030204" pitchFamily="49" charset="0"/>
              </a:rPr>
              <a:t>ORDER BY cohort_month, activity_month;</a:t>
            </a:r>
          </a:p>
          <a:p>
            <a:br>
              <a:rPr lang="en-IN" sz="1600" dirty="0">
                <a:latin typeface="Consolas" panose="020B0609020204030204" pitchFamily="49" charset="0"/>
                <a:cs typeface="Consolas" panose="020B0609020204030204" pitchFamily="49" charset="0"/>
              </a:rPr>
            </a:br>
            <a:endParaRPr lang="en-IN" sz="1600" b="0" dirty="0">
              <a:effectLst/>
              <a:latin typeface="Consolas" panose="020B0609020204030204" pitchFamily="49" charset="0"/>
              <a:cs typeface="Consolas" panose="020B0609020204030204" pitchFamily="49" charset="0"/>
            </a:endParaRPr>
          </a:p>
        </p:txBody>
      </p:sp>
      <p:pic>
        <p:nvPicPr>
          <p:cNvPr id="6148" name="Picture 4">
            <a:extLst>
              <a:ext uri="{FF2B5EF4-FFF2-40B4-BE49-F238E27FC236}">
                <a16:creationId xmlns:a16="http://schemas.microsoft.com/office/drawing/2014/main" id="{82E95EAB-6D39-C41B-84A7-9468AA610D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9265" y="2673602"/>
            <a:ext cx="5071731" cy="328546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CFDE41E-DBBC-CFB2-4D83-CBE9E4D94211}"/>
              </a:ext>
            </a:extLst>
          </p:cNvPr>
          <p:cNvSpPr txBox="1"/>
          <p:nvPr/>
        </p:nvSpPr>
        <p:spPr>
          <a:xfrm>
            <a:off x="9415130" y="5959063"/>
            <a:ext cx="1077218" cy="369332"/>
          </a:xfrm>
          <a:prstGeom prst="rect">
            <a:avLst/>
          </a:prstGeom>
          <a:noFill/>
        </p:spPr>
        <p:txBody>
          <a:bodyPr wrap="none" rtlCol="0">
            <a:spAutoFit/>
          </a:bodyPr>
          <a:lstStyle/>
          <a:p>
            <a:r>
              <a:rPr lang="en-US" dirty="0"/>
              <a:t>300 rows</a:t>
            </a:r>
          </a:p>
        </p:txBody>
      </p:sp>
      <p:sp>
        <p:nvSpPr>
          <p:cNvPr id="4" name="TextBox 3">
            <a:extLst>
              <a:ext uri="{FF2B5EF4-FFF2-40B4-BE49-F238E27FC236}">
                <a16:creationId xmlns:a16="http://schemas.microsoft.com/office/drawing/2014/main" id="{0C80DEDC-A95E-FA67-A6DA-997EF2AFF4F5}"/>
              </a:ext>
            </a:extLst>
          </p:cNvPr>
          <p:cNvSpPr txBox="1"/>
          <p:nvPr/>
        </p:nvSpPr>
        <p:spPr>
          <a:xfrm>
            <a:off x="0" y="6294493"/>
            <a:ext cx="11614077" cy="523220"/>
          </a:xfrm>
          <a:prstGeom prst="rect">
            <a:avLst/>
          </a:prstGeom>
          <a:noFill/>
        </p:spPr>
        <p:txBody>
          <a:bodyPr wrap="none" rtlCol="0">
            <a:spAutoFit/>
          </a:bodyPr>
          <a:lstStyle/>
          <a:p>
            <a:r>
              <a:rPr lang="en-IN" sz="1400" dirty="0">
                <a:latin typeface="Consolas" panose="020B0609020204030204" pitchFamily="49" charset="0"/>
                <a:cs typeface="Consolas" panose="020B0609020204030204" pitchFamily="49" charset="0"/>
              </a:rPr>
              <a:t>User activity generally increases across later activity periods, suggesting steady platform adoption and continued </a:t>
            </a:r>
          </a:p>
          <a:p>
            <a:r>
              <a:rPr lang="en-IN" sz="1400" dirty="0">
                <a:latin typeface="Consolas" panose="020B0609020204030204" pitchFamily="49" charset="0"/>
                <a:cs typeface="Consolas" panose="020B0609020204030204" pitchFamily="49" charset="0"/>
              </a:rPr>
              <a:t>engagement growth over time.</a:t>
            </a:r>
            <a:endParaRPr lang="en-US" sz="14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843454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610F937-F010-D28A-FBA6-AA030A60777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8A77B69-7E2C-889F-A87F-B0A23AECB153}"/>
              </a:ext>
            </a:extLst>
          </p:cNvPr>
          <p:cNvSpPr txBox="1"/>
          <p:nvPr/>
        </p:nvSpPr>
        <p:spPr>
          <a:xfrm>
            <a:off x="972482" y="623014"/>
            <a:ext cx="5756704" cy="923330"/>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10. Monthly Active Users &amp; Engagement Trends</a:t>
            </a:r>
          </a:p>
          <a:p>
            <a:br>
              <a:rPr lang="en-IN" dirty="0">
                <a:latin typeface="Consolas" panose="020B0609020204030204" pitchFamily="49" charset="0"/>
                <a:cs typeface="Consolas" panose="020B0609020204030204" pitchFamily="49" charset="0"/>
              </a:rPr>
            </a:br>
            <a:endParaRPr lang="en-IN" dirty="0">
              <a:effectLst/>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DA560508-0E8B-347D-EF9C-EC322EFA1AA1}"/>
              </a:ext>
            </a:extLst>
          </p:cNvPr>
          <p:cNvSpPr txBox="1"/>
          <p:nvPr/>
        </p:nvSpPr>
        <p:spPr>
          <a:xfrm>
            <a:off x="0" y="1361678"/>
            <a:ext cx="9273693" cy="3046988"/>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SELECT</a:t>
            </a:r>
          </a:p>
          <a:p>
            <a:r>
              <a:rPr lang="en-IN" sz="1600" dirty="0">
                <a:latin typeface="Consolas" panose="020B0609020204030204" pitchFamily="49" charset="0"/>
                <a:cs typeface="Consolas" panose="020B0609020204030204" pitchFamily="49" charset="0"/>
              </a:rPr>
              <a:t>   TO_CHAR(DATE_TRUNC('month', f.usage_date::date), 'YYYY-MM') AS activity_month,</a:t>
            </a:r>
          </a:p>
          <a:p>
            <a:r>
              <a:rPr lang="en-IN" sz="1600" dirty="0">
                <a:latin typeface="Consolas" panose="020B0609020204030204" pitchFamily="49" charset="0"/>
                <a:cs typeface="Consolas" panose="020B0609020204030204" pitchFamily="49" charset="0"/>
              </a:rPr>
              <a:t>   COUNT(DISTINCT s.account_id) AS monthly_active_users,</a:t>
            </a:r>
          </a:p>
          <a:p>
            <a:r>
              <a:rPr lang="en-IN" sz="1600" dirty="0">
                <a:latin typeface="Consolas" panose="020B0609020204030204" pitchFamily="49" charset="0"/>
                <a:cs typeface="Consolas" panose="020B0609020204030204" pitchFamily="49" charset="0"/>
              </a:rPr>
              <a:t>   COUNT(DISTINCT f.subscription_id) AS active_subscriptions,</a:t>
            </a:r>
          </a:p>
          <a:p>
            <a:r>
              <a:rPr lang="en-IN" sz="1600" dirty="0">
                <a:latin typeface="Consolas" panose="020B0609020204030204" pitchFamily="49" charset="0"/>
                <a:cs typeface="Consolas" panose="020B0609020204030204" pitchFamily="49" charset="0"/>
              </a:rPr>
              <a:t>   SUM(f.usage_count) AS total_platform_usage,</a:t>
            </a:r>
          </a:p>
          <a:p>
            <a:r>
              <a:rPr lang="en-IN" sz="1600" dirty="0">
                <a:latin typeface="Consolas" panose="020B0609020204030204" pitchFamily="49" charset="0"/>
                <a:cs typeface="Consolas" panose="020B0609020204030204" pitchFamily="49" charset="0"/>
              </a:rPr>
              <a:t>   ROUND(AVG(f.usage_duration_secs) / 60, 2) AS avg_usage_minutes</a:t>
            </a:r>
          </a:p>
          <a:p>
            <a:r>
              <a:rPr lang="en-IN" sz="1600" dirty="0">
                <a:latin typeface="Consolas" panose="020B0609020204030204" pitchFamily="49" charset="0"/>
                <a:cs typeface="Consolas" panose="020B0609020204030204" pitchFamily="49" charset="0"/>
              </a:rPr>
              <a:t>FROM feature_usage f</a:t>
            </a:r>
          </a:p>
          <a:p>
            <a:r>
              <a:rPr lang="en-IN" sz="1600" dirty="0">
                <a:latin typeface="Consolas" panose="020B0609020204030204" pitchFamily="49" charset="0"/>
                <a:cs typeface="Consolas" panose="020B0609020204030204" pitchFamily="49" charset="0"/>
              </a:rPr>
              <a:t>JOIN subscriptions s</a:t>
            </a:r>
          </a:p>
          <a:p>
            <a:r>
              <a:rPr lang="en-IN" sz="1600" dirty="0">
                <a:latin typeface="Consolas" panose="020B0609020204030204" pitchFamily="49" charset="0"/>
                <a:cs typeface="Consolas" panose="020B0609020204030204" pitchFamily="49" charset="0"/>
              </a:rPr>
              <a:t>   ON f.subscription_id = s.subscription_id</a:t>
            </a:r>
          </a:p>
          <a:p>
            <a:r>
              <a:rPr lang="en-IN" sz="1600" dirty="0">
                <a:latin typeface="Consolas" panose="020B0609020204030204" pitchFamily="49" charset="0"/>
                <a:cs typeface="Consolas" panose="020B0609020204030204" pitchFamily="49" charset="0"/>
              </a:rPr>
              <a:t>GROUP BY activity_month</a:t>
            </a:r>
          </a:p>
          <a:p>
            <a:br>
              <a:rPr lang="en-IN" sz="1600" dirty="0">
                <a:latin typeface="Consolas" panose="020B0609020204030204" pitchFamily="49" charset="0"/>
                <a:cs typeface="Consolas" panose="020B0609020204030204" pitchFamily="49" charset="0"/>
              </a:rPr>
            </a:br>
            <a:endParaRPr lang="en-IN" sz="1600" b="0" dirty="0">
              <a:effectLst/>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3E1A5ED6-8352-4A70-BCBC-69A05E41BA3F}"/>
              </a:ext>
            </a:extLst>
          </p:cNvPr>
          <p:cNvSpPr txBox="1"/>
          <p:nvPr/>
        </p:nvSpPr>
        <p:spPr>
          <a:xfrm>
            <a:off x="159488" y="988828"/>
            <a:ext cx="10904011" cy="1015663"/>
          </a:xfrm>
          <a:prstGeom prst="rect">
            <a:avLst/>
          </a:prstGeom>
          <a:noFill/>
        </p:spPr>
        <p:txBody>
          <a:bodyPr wrap="none" rtlCol="0">
            <a:spAutoFit/>
          </a:bodyPr>
          <a:lstStyle/>
          <a:p>
            <a:r>
              <a:rPr lang="en-IN" sz="2000" b="1" dirty="0">
                <a:latin typeface="Calibri" panose="020F0502020204030204" pitchFamily="34" charset="0"/>
                <a:cs typeface="Calibri" panose="020F0502020204030204" pitchFamily="34" charset="0"/>
              </a:rPr>
              <a:t> How is overall platform engagement trending over time in terms of active users and usage intensity?</a:t>
            </a:r>
          </a:p>
          <a:p>
            <a:br>
              <a:rPr lang="en-IN" sz="2000" b="1" dirty="0">
                <a:latin typeface="Calibri" panose="020F0502020204030204" pitchFamily="34" charset="0"/>
                <a:cs typeface="Calibri" panose="020F0502020204030204" pitchFamily="34" charset="0"/>
              </a:rPr>
            </a:br>
            <a:endParaRPr lang="en-US" sz="2000" b="1" dirty="0">
              <a:latin typeface="Calibri" panose="020F0502020204030204" pitchFamily="34" charset="0"/>
              <a:cs typeface="Calibri" panose="020F0502020204030204" pitchFamily="34" charset="0"/>
            </a:endParaRPr>
          </a:p>
        </p:txBody>
      </p:sp>
      <p:pic>
        <p:nvPicPr>
          <p:cNvPr id="8194" name="Picture 2">
            <a:extLst>
              <a:ext uri="{FF2B5EF4-FFF2-40B4-BE49-F238E27FC236}">
                <a16:creationId xmlns:a16="http://schemas.microsoft.com/office/drawing/2014/main" id="{864EA973-8B43-7440-A3EA-E0FD6EFD79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8027" y="2988146"/>
            <a:ext cx="5996763" cy="2402561"/>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40E7ABB-E88B-13A5-4719-280AD5E08070}"/>
              </a:ext>
            </a:extLst>
          </p:cNvPr>
          <p:cNvSpPr txBox="1"/>
          <p:nvPr/>
        </p:nvSpPr>
        <p:spPr>
          <a:xfrm>
            <a:off x="9090837" y="5390707"/>
            <a:ext cx="953787" cy="369332"/>
          </a:xfrm>
          <a:prstGeom prst="rect">
            <a:avLst/>
          </a:prstGeom>
          <a:noFill/>
        </p:spPr>
        <p:txBody>
          <a:bodyPr wrap="none" rtlCol="0">
            <a:spAutoFit/>
          </a:bodyPr>
          <a:lstStyle/>
          <a:p>
            <a:r>
              <a:rPr lang="en-US" dirty="0"/>
              <a:t>24 rows</a:t>
            </a:r>
          </a:p>
        </p:txBody>
      </p:sp>
      <p:sp>
        <p:nvSpPr>
          <p:cNvPr id="9" name="TextBox 8">
            <a:extLst>
              <a:ext uri="{FF2B5EF4-FFF2-40B4-BE49-F238E27FC236}">
                <a16:creationId xmlns:a16="http://schemas.microsoft.com/office/drawing/2014/main" id="{741E0A25-20B9-7DBD-5060-5B51DFEA2B36}"/>
              </a:ext>
            </a:extLst>
          </p:cNvPr>
          <p:cNvSpPr txBox="1"/>
          <p:nvPr/>
        </p:nvSpPr>
        <p:spPr>
          <a:xfrm>
            <a:off x="0" y="5760039"/>
            <a:ext cx="12088566" cy="646331"/>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Overall engagement trends show stable active usage with fluctuations in intensity, suggesting </a:t>
            </a:r>
          </a:p>
          <a:p>
            <a:r>
              <a:rPr lang="en-IN" dirty="0">
                <a:latin typeface="Consolas" panose="020B0609020204030204" pitchFamily="49" charset="0"/>
                <a:cs typeface="Consolas" panose="020B0609020204030204" pitchFamily="49" charset="0"/>
              </a:rPr>
              <a:t>consistent but non-linear platform growth.</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2060140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E87417-0CB3-1E1C-E7DC-55A2EA7B98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FF3C3F9-E9C3-C063-1AAD-C0F66ECF830F}"/>
              </a:ext>
            </a:extLst>
          </p:cNvPr>
          <p:cNvSpPr txBox="1"/>
          <p:nvPr/>
        </p:nvSpPr>
        <p:spPr>
          <a:xfrm>
            <a:off x="834259" y="91386"/>
            <a:ext cx="3730508"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11. DAU/MAU Stickiness Ratio</a:t>
            </a:r>
            <a:endParaRPr lang="en-IN" dirty="0">
              <a:effectLst/>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F5310D8A-B674-1E0C-770E-B8F1439B55E7}"/>
              </a:ext>
            </a:extLst>
          </p:cNvPr>
          <p:cNvSpPr txBox="1"/>
          <p:nvPr/>
        </p:nvSpPr>
        <p:spPr>
          <a:xfrm>
            <a:off x="0" y="863390"/>
            <a:ext cx="7037504" cy="6494085"/>
          </a:xfrm>
          <a:prstGeom prst="rect">
            <a:avLst/>
          </a:prstGeom>
          <a:noFill/>
        </p:spPr>
        <p:txBody>
          <a:bodyPr wrap="none" rtlCol="0">
            <a:spAutoFit/>
          </a:bodyPr>
          <a:lstStyle/>
          <a:p>
            <a:r>
              <a:rPr lang="en-IN" sz="1300" dirty="0">
                <a:latin typeface="Consolas" panose="020B0609020204030204" pitchFamily="49" charset="0"/>
                <a:cs typeface="Consolas" panose="020B0609020204030204" pitchFamily="49" charset="0"/>
              </a:rPr>
              <a:t>WITH daily_activity AS (</a:t>
            </a:r>
          </a:p>
          <a:p>
            <a:r>
              <a:rPr lang="en-IN" sz="1300" dirty="0">
                <a:latin typeface="Consolas" panose="020B0609020204030204" pitchFamily="49" charset="0"/>
                <a:cs typeface="Consolas" panose="020B0609020204030204" pitchFamily="49" charset="0"/>
              </a:rPr>
              <a:t>   SELECT</a:t>
            </a:r>
          </a:p>
          <a:p>
            <a:r>
              <a:rPr lang="en-IN" sz="1300" dirty="0">
                <a:latin typeface="Consolas" panose="020B0609020204030204" pitchFamily="49" charset="0"/>
                <a:cs typeface="Consolas" panose="020B0609020204030204" pitchFamily="49" charset="0"/>
              </a:rPr>
              <a:t>       usage_date,</a:t>
            </a:r>
          </a:p>
          <a:p>
            <a:r>
              <a:rPr lang="en-IN" sz="1300" dirty="0">
                <a:latin typeface="Consolas" panose="020B0609020204030204" pitchFamily="49" charset="0"/>
                <a:cs typeface="Consolas" panose="020B0609020204030204" pitchFamily="49" charset="0"/>
              </a:rPr>
              <a:t>       COUNT(DISTINCT subscription_id) AS dau</a:t>
            </a:r>
          </a:p>
          <a:p>
            <a:r>
              <a:rPr lang="en-IN" sz="1300" dirty="0">
                <a:latin typeface="Consolas" panose="020B0609020204030204" pitchFamily="49" charset="0"/>
                <a:cs typeface="Consolas" panose="020B0609020204030204" pitchFamily="49" charset="0"/>
              </a:rPr>
              <a:t>   FROM feature_usage</a:t>
            </a:r>
          </a:p>
          <a:p>
            <a:r>
              <a:rPr lang="en-IN" sz="1300" dirty="0">
                <a:latin typeface="Consolas" panose="020B0609020204030204" pitchFamily="49" charset="0"/>
                <a:cs typeface="Consolas" panose="020B0609020204030204" pitchFamily="49" charset="0"/>
              </a:rPr>
              <a:t>   GROUP BY usage_date</a:t>
            </a:r>
          </a:p>
          <a:p>
            <a:r>
              <a:rPr lang="en-IN" sz="1300" dirty="0">
                <a:latin typeface="Consolas" panose="020B0609020204030204" pitchFamily="49" charset="0"/>
                <a:cs typeface="Consolas" panose="020B0609020204030204" pitchFamily="49" charset="0"/>
              </a:rPr>
              <a:t>),</a:t>
            </a:r>
          </a:p>
          <a:p>
            <a:r>
              <a:rPr lang="en-IN" sz="1300" dirty="0">
                <a:latin typeface="Consolas" panose="020B0609020204030204" pitchFamily="49" charset="0"/>
                <a:cs typeface="Consolas" panose="020B0609020204030204" pitchFamily="49" charset="0"/>
              </a:rPr>
              <a:t>monthly_activity AS (</a:t>
            </a:r>
          </a:p>
          <a:p>
            <a:r>
              <a:rPr lang="en-IN" sz="1300" dirty="0">
                <a:latin typeface="Consolas" panose="020B0609020204030204" pitchFamily="49" charset="0"/>
                <a:cs typeface="Consolas" panose="020B0609020204030204" pitchFamily="49" charset="0"/>
              </a:rPr>
              <a:t>   SELECT</a:t>
            </a:r>
          </a:p>
          <a:p>
            <a:r>
              <a:rPr lang="en-IN" sz="1300" dirty="0">
                <a:latin typeface="Consolas" panose="020B0609020204030204" pitchFamily="49" charset="0"/>
                <a:cs typeface="Consolas" panose="020B0609020204030204" pitchFamily="49" charset="0"/>
              </a:rPr>
              <a:t>       DATE_TRUNC('month', usage_date) AS activity_month,</a:t>
            </a:r>
          </a:p>
          <a:p>
            <a:r>
              <a:rPr lang="en-IN" sz="1300" dirty="0">
                <a:latin typeface="Consolas" panose="020B0609020204030204" pitchFamily="49" charset="0"/>
                <a:cs typeface="Consolas" panose="020B0609020204030204" pitchFamily="49" charset="0"/>
              </a:rPr>
              <a:t>       COUNT(DISTINCT subscription_id) AS mau</a:t>
            </a:r>
          </a:p>
          <a:p>
            <a:r>
              <a:rPr lang="en-IN" sz="1300" dirty="0">
                <a:latin typeface="Consolas" panose="020B0609020204030204" pitchFamily="49" charset="0"/>
                <a:cs typeface="Consolas" panose="020B0609020204030204" pitchFamily="49" charset="0"/>
              </a:rPr>
              <a:t>   FROM feature_usage</a:t>
            </a:r>
          </a:p>
          <a:p>
            <a:r>
              <a:rPr lang="en-IN" sz="1300" dirty="0">
                <a:latin typeface="Consolas" panose="020B0609020204030204" pitchFamily="49" charset="0"/>
                <a:cs typeface="Consolas" panose="020B0609020204030204" pitchFamily="49" charset="0"/>
              </a:rPr>
              <a:t>   GROUP BY activity_month</a:t>
            </a:r>
          </a:p>
          <a:p>
            <a:r>
              <a:rPr lang="en-IN" sz="1300" dirty="0">
                <a:latin typeface="Consolas" panose="020B0609020204030204" pitchFamily="49" charset="0"/>
                <a:cs typeface="Consolas" panose="020B0609020204030204" pitchFamily="49" charset="0"/>
              </a:rPr>
              <a:t>),</a:t>
            </a:r>
          </a:p>
          <a:p>
            <a:r>
              <a:rPr lang="en-IN" sz="1300" dirty="0">
                <a:latin typeface="Consolas" panose="020B0609020204030204" pitchFamily="49" charset="0"/>
                <a:cs typeface="Consolas" panose="020B0609020204030204" pitchFamily="49" charset="0"/>
              </a:rPr>
              <a:t>monthly_dau AS (</a:t>
            </a:r>
          </a:p>
          <a:p>
            <a:r>
              <a:rPr lang="en-IN" sz="1300" dirty="0">
                <a:latin typeface="Consolas" panose="020B0609020204030204" pitchFamily="49" charset="0"/>
                <a:cs typeface="Consolas" panose="020B0609020204030204" pitchFamily="49" charset="0"/>
              </a:rPr>
              <a:t>   SELECT</a:t>
            </a:r>
          </a:p>
          <a:p>
            <a:r>
              <a:rPr lang="en-IN" sz="1300" dirty="0">
                <a:latin typeface="Consolas" panose="020B0609020204030204" pitchFamily="49" charset="0"/>
                <a:cs typeface="Consolas" panose="020B0609020204030204" pitchFamily="49" charset="0"/>
              </a:rPr>
              <a:t>       DATE_TRUNC('month', usage_date) AS activity_month,</a:t>
            </a:r>
          </a:p>
          <a:p>
            <a:r>
              <a:rPr lang="en-IN" sz="1300" dirty="0">
                <a:latin typeface="Consolas" panose="020B0609020204030204" pitchFamily="49" charset="0"/>
                <a:cs typeface="Consolas" panose="020B0609020204030204" pitchFamily="49" charset="0"/>
              </a:rPr>
              <a:t>       AVG(dau) AS avg_daily_active_users</a:t>
            </a:r>
          </a:p>
          <a:p>
            <a:r>
              <a:rPr lang="en-IN" sz="1300" dirty="0">
                <a:latin typeface="Consolas" panose="020B0609020204030204" pitchFamily="49" charset="0"/>
                <a:cs typeface="Consolas" panose="020B0609020204030204" pitchFamily="49" charset="0"/>
              </a:rPr>
              <a:t>   FROM daily_activity</a:t>
            </a:r>
          </a:p>
          <a:p>
            <a:r>
              <a:rPr lang="en-IN" sz="1300" dirty="0">
                <a:latin typeface="Consolas" panose="020B0609020204030204" pitchFamily="49" charset="0"/>
                <a:cs typeface="Consolas" panose="020B0609020204030204" pitchFamily="49" charset="0"/>
              </a:rPr>
              <a:t>   GROUP BY activity_month</a:t>
            </a:r>
          </a:p>
          <a:p>
            <a:r>
              <a:rPr lang="en-IN" sz="1300" dirty="0">
                <a:latin typeface="Consolas" panose="020B0609020204030204" pitchFamily="49" charset="0"/>
                <a:cs typeface="Consolas" panose="020B0609020204030204" pitchFamily="49" charset="0"/>
              </a:rPr>
              <a:t>)</a:t>
            </a:r>
          </a:p>
          <a:p>
            <a:r>
              <a:rPr lang="en-IN" sz="1300" dirty="0">
                <a:latin typeface="Consolas" panose="020B0609020204030204" pitchFamily="49" charset="0"/>
                <a:cs typeface="Consolas" panose="020B0609020204030204" pitchFamily="49" charset="0"/>
              </a:rPr>
              <a:t>SELECT</a:t>
            </a:r>
          </a:p>
          <a:p>
            <a:r>
              <a:rPr lang="en-IN" sz="1300" dirty="0">
                <a:latin typeface="Consolas" panose="020B0609020204030204" pitchFamily="49" charset="0"/>
                <a:cs typeface="Consolas" panose="020B0609020204030204" pitchFamily="49" charset="0"/>
              </a:rPr>
              <a:t>   m.activity_month,</a:t>
            </a:r>
          </a:p>
          <a:p>
            <a:r>
              <a:rPr lang="en-IN" sz="1300" dirty="0">
                <a:latin typeface="Consolas" panose="020B0609020204030204" pitchFamily="49" charset="0"/>
                <a:cs typeface="Consolas" panose="020B0609020204030204" pitchFamily="49" charset="0"/>
              </a:rPr>
              <a:t>   d.avg_daily_active_users,</a:t>
            </a:r>
          </a:p>
          <a:p>
            <a:r>
              <a:rPr lang="en-IN" sz="1300" dirty="0">
                <a:latin typeface="Consolas" panose="020B0609020204030204" pitchFamily="49" charset="0"/>
                <a:cs typeface="Consolas" panose="020B0609020204030204" pitchFamily="49" charset="0"/>
              </a:rPr>
              <a:t>   m.mau,</a:t>
            </a:r>
          </a:p>
          <a:p>
            <a:r>
              <a:rPr lang="en-IN" sz="1300" dirty="0">
                <a:latin typeface="Consolas" panose="020B0609020204030204" pitchFamily="49" charset="0"/>
                <a:cs typeface="Consolas" panose="020B0609020204030204" pitchFamily="49" charset="0"/>
              </a:rPr>
              <a:t>   ROUND((d.avg_daily_active_users * 100.0) / m.mau, 2) AS stickiness_ratio</a:t>
            </a:r>
          </a:p>
          <a:p>
            <a:r>
              <a:rPr lang="en-IN" sz="1300" dirty="0">
                <a:latin typeface="Consolas" panose="020B0609020204030204" pitchFamily="49" charset="0"/>
                <a:cs typeface="Consolas" panose="020B0609020204030204" pitchFamily="49" charset="0"/>
              </a:rPr>
              <a:t>FROM monthly_activity m</a:t>
            </a:r>
          </a:p>
          <a:p>
            <a:r>
              <a:rPr lang="en-IN" sz="1300" dirty="0">
                <a:latin typeface="Consolas" panose="020B0609020204030204" pitchFamily="49" charset="0"/>
                <a:cs typeface="Consolas" panose="020B0609020204030204" pitchFamily="49" charset="0"/>
              </a:rPr>
              <a:t>JOIN monthly_dau d</a:t>
            </a:r>
          </a:p>
          <a:p>
            <a:r>
              <a:rPr lang="en-IN" sz="1300" dirty="0">
                <a:latin typeface="Consolas" panose="020B0609020204030204" pitchFamily="49" charset="0"/>
                <a:cs typeface="Consolas" panose="020B0609020204030204" pitchFamily="49" charset="0"/>
              </a:rPr>
              <a:t>   ON m.activity_month = d.activity_month</a:t>
            </a:r>
          </a:p>
          <a:p>
            <a:r>
              <a:rPr lang="en-IN" sz="1300" dirty="0">
                <a:latin typeface="Consolas" panose="020B0609020204030204" pitchFamily="49" charset="0"/>
                <a:cs typeface="Consolas" panose="020B0609020204030204" pitchFamily="49" charset="0"/>
              </a:rPr>
              <a:t>ORDER BY m.activity_month;</a:t>
            </a:r>
          </a:p>
          <a:p>
            <a:br>
              <a:rPr lang="en-IN" sz="1300" dirty="0">
                <a:latin typeface="Consolas" panose="020B0609020204030204" pitchFamily="49" charset="0"/>
                <a:cs typeface="Consolas" panose="020B0609020204030204" pitchFamily="49" charset="0"/>
              </a:rPr>
            </a:br>
            <a:endParaRPr lang="en-IN" sz="1300" b="0" dirty="0">
              <a:effectLst/>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350EA38D-6FB7-5E95-8AEC-C405A775B034}"/>
              </a:ext>
            </a:extLst>
          </p:cNvPr>
          <p:cNvSpPr txBox="1"/>
          <p:nvPr/>
        </p:nvSpPr>
        <p:spPr>
          <a:xfrm>
            <a:off x="0" y="491496"/>
            <a:ext cx="8296310" cy="1015663"/>
          </a:xfrm>
          <a:prstGeom prst="rect">
            <a:avLst/>
          </a:prstGeom>
          <a:noFill/>
        </p:spPr>
        <p:txBody>
          <a:bodyPr wrap="none" rtlCol="0">
            <a:spAutoFit/>
          </a:bodyPr>
          <a:lstStyle/>
          <a:p>
            <a:r>
              <a:rPr lang="en-IN" sz="2000" b="1" dirty="0">
                <a:latin typeface="Calibri" panose="020F0502020204030204" pitchFamily="34" charset="0"/>
                <a:cs typeface="Calibri" panose="020F0502020204030204" pitchFamily="34" charset="0"/>
              </a:rPr>
              <a:t> How frequently do users return to the platform on a daily basis (stickiness)?</a:t>
            </a:r>
          </a:p>
          <a:p>
            <a:br>
              <a:rPr lang="en-IN" sz="2000" b="1" dirty="0">
                <a:latin typeface="Calibri" panose="020F0502020204030204" pitchFamily="34" charset="0"/>
                <a:cs typeface="Calibri" panose="020F0502020204030204" pitchFamily="34" charset="0"/>
              </a:rPr>
            </a:br>
            <a:endParaRPr lang="en-US" sz="2000" b="1" dirty="0">
              <a:latin typeface="Calibri" panose="020F0502020204030204" pitchFamily="34" charset="0"/>
              <a:cs typeface="Calibri" panose="020F0502020204030204" pitchFamily="34" charset="0"/>
            </a:endParaRPr>
          </a:p>
        </p:txBody>
      </p:sp>
      <p:pic>
        <p:nvPicPr>
          <p:cNvPr id="10242" name="Picture 2">
            <a:extLst>
              <a:ext uri="{FF2B5EF4-FFF2-40B4-BE49-F238E27FC236}">
                <a16:creationId xmlns:a16="http://schemas.microsoft.com/office/drawing/2014/main" id="{9C217CB7-78D7-96E3-78D8-073D717AA5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62812" y="850438"/>
            <a:ext cx="4625162" cy="333565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D029A76-86D8-B071-BE0F-86AE37C43862}"/>
              </a:ext>
            </a:extLst>
          </p:cNvPr>
          <p:cNvSpPr txBox="1"/>
          <p:nvPr/>
        </p:nvSpPr>
        <p:spPr>
          <a:xfrm>
            <a:off x="4612507" y="4396552"/>
            <a:ext cx="7702750" cy="830997"/>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Stickiness ratios indicate moderate-to-strong engagement behaviour,</a:t>
            </a:r>
          </a:p>
          <a:p>
            <a:r>
              <a:rPr lang="en-IN" sz="1600" dirty="0">
                <a:latin typeface="Consolas" panose="020B0609020204030204" pitchFamily="49" charset="0"/>
                <a:cs typeface="Consolas" panose="020B0609020204030204" pitchFamily="49" charset="0"/>
              </a:rPr>
              <a:t>showing that a meaningful portion of users return frequently </a:t>
            </a:r>
          </a:p>
          <a:p>
            <a:r>
              <a:rPr lang="en-IN" sz="1600" dirty="0">
                <a:latin typeface="Consolas" panose="020B0609020204030204" pitchFamily="49" charset="0"/>
                <a:cs typeface="Consolas" panose="020B0609020204030204" pitchFamily="49" charset="0"/>
              </a:rPr>
              <a:t>within each month.</a:t>
            </a:r>
            <a:endParaRPr lang="en-US" sz="1600"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276109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52B316A-BCA0-69D1-3D66-35563DE0C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9CDFA7-5471-E48E-D88A-665DF0C1B96F}"/>
              </a:ext>
            </a:extLst>
          </p:cNvPr>
          <p:cNvSpPr>
            <a:spLocks noGrp="1"/>
          </p:cNvSpPr>
          <p:nvPr>
            <p:ph type="title"/>
          </p:nvPr>
        </p:nvSpPr>
        <p:spPr>
          <a:xfrm>
            <a:off x="838200" y="-218111"/>
            <a:ext cx="10515600" cy="1210457"/>
          </a:xfrm>
        </p:spPr>
        <p:txBody>
          <a:bodyPr>
            <a:noAutofit/>
          </a:bodyPr>
          <a:lstStyle/>
          <a:p>
            <a:pPr algn="ctr"/>
            <a:r>
              <a:rPr lang="en-IN" sz="2800" b="1" dirty="0">
                <a:latin typeface="Calibri" panose="020F0502020204030204" pitchFamily="34" charset="0"/>
                <a:cs typeface="Calibri" panose="020F0502020204030204" pitchFamily="34" charset="0"/>
              </a:rPr>
              <a:t>SECTION 6: CHURN ANALYSIS</a:t>
            </a:r>
            <a:endParaRPr lang="en-IN" sz="2800" b="1" dirty="0">
              <a:effectLst/>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06E64F9-EBD7-3605-BCCC-86FF02EC45AD}"/>
              </a:ext>
            </a:extLst>
          </p:cNvPr>
          <p:cNvSpPr txBox="1"/>
          <p:nvPr/>
        </p:nvSpPr>
        <p:spPr>
          <a:xfrm>
            <a:off x="972482" y="623014"/>
            <a:ext cx="3477234"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12. Churn Reason Breakdown</a:t>
            </a:r>
            <a:endParaRPr lang="en-IN" dirty="0">
              <a:effectLst/>
              <a:latin typeface="Consolas" panose="020B0609020204030204" pitchFamily="49" charset="0"/>
              <a:cs typeface="Consolas" panose="020B0609020204030204" pitchFamily="49" charset="0"/>
            </a:endParaRPr>
          </a:p>
        </p:txBody>
      </p:sp>
      <p:sp>
        <p:nvSpPr>
          <p:cNvPr id="6" name="TextBox 5">
            <a:extLst>
              <a:ext uri="{FF2B5EF4-FFF2-40B4-BE49-F238E27FC236}">
                <a16:creationId xmlns:a16="http://schemas.microsoft.com/office/drawing/2014/main" id="{246E06F2-89C5-BD4C-000A-A0999E9B51D9}"/>
              </a:ext>
            </a:extLst>
          </p:cNvPr>
          <p:cNvSpPr txBox="1"/>
          <p:nvPr/>
        </p:nvSpPr>
        <p:spPr>
          <a:xfrm>
            <a:off x="0" y="992346"/>
            <a:ext cx="12192000" cy="1015663"/>
          </a:xfrm>
          <a:prstGeom prst="rect">
            <a:avLst/>
          </a:prstGeom>
          <a:noFill/>
        </p:spPr>
        <p:txBody>
          <a:bodyPr wrap="square" rtlCol="0">
            <a:spAutoFit/>
          </a:bodyPr>
          <a:lstStyle/>
          <a:p>
            <a:r>
              <a:rPr lang="en-IN" sz="2000" b="1" dirty="0">
                <a:latin typeface="Calibri" panose="020F0502020204030204" pitchFamily="34" charset="0"/>
                <a:cs typeface="Calibri" panose="020F0502020204030204" pitchFamily="34" charset="0"/>
              </a:rPr>
              <a:t> What are the primary reasons customers churn, and how does revenue loss vary by reason?</a:t>
            </a:r>
          </a:p>
          <a:p>
            <a:br>
              <a:rPr lang="en-IN" sz="2000" b="1" dirty="0">
                <a:latin typeface="Calibri" panose="020F0502020204030204" pitchFamily="34" charset="0"/>
                <a:cs typeface="Calibri" panose="020F0502020204030204" pitchFamily="34" charset="0"/>
              </a:rPr>
            </a:br>
            <a:endParaRPr lang="en-US" sz="20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17CB0BB-F402-F42F-DF9C-6287D4D30385}"/>
              </a:ext>
            </a:extLst>
          </p:cNvPr>
          <p:cNvSpPr txBox="1"/>
          <p:nvPr/>
        </p:nvSpPr>
        <p:spPr>
          <a:xfrm>
            <a:off x="0" y="1361678"/>
            <a:ext cx="10844635" cy="3046988"/>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SELECT</a:t>
            </a:r>
          </a:p>
          <a:p>
            <a:r>
              <a:rPr lang="en-IN" sz="1600" dirty="0">
                <a:latin typeface="Consolas" panose="020B0609020204030204" pitchFamily="49" charset="0"/>
                <a:cs typeface="Consolas" panose="020B0609020204030204" pitchFamily="49" charset="0"/>
              </a:rPr>
              <a:t>   reason_code,</a:t>
            </a:r>
          </a:p>
          <a:p>
            <a:r>
              <a:rPr lang="en-IN" sz="1600" dirty="0">
                <a:latin typeface="Consolas" panose="020B0609020204030204" pitchFamily="49" charset="0"/>
                <a:cs typeface="Consolas" panose="020B0609020204030204" pitchFamily="49" charset="0"/>
              </a:rPr>
              <a:t>   COUNT(churn_event_id) AS total_churn_events,</a:t>
            </a:r>
          </a:p>
          <a:p>
            <a:r>
              <a:rPr lang="en-IN" sz="1600" dirty="0">
                <a:latin typeface="Consolas" panose="020B0609020204030204" pitchFamily="49" charset="0"/>
                <a:cs typeface="Consolas" panose="020B0609020204030204" pitchFamily="49" charset="0"/>
              </a:rPr>
              <a:t>   AVG(refund_amount_usd::numeric) AS avg_refund,</a:t>
            </a:r>
          </a:p>
          <a:p>
            <a:r>
              <a:rPr lang="en-IN" sz="1600" dirty="0">
                <a:latin typeface="Consolas" panose="020B0609020204030204" pitchFamily="49" charset="0"/>
                <a:cs typeface="Consolas" panose="020B0609020204030204" pitchFamily="49" charset="0"/>
              </a:rPr>
              <a:t>   SUM(CASE WHEN preceding_upgrade_flag = 'True' THEN 1 ELSE 0 END) AS churn_after_upgrade,</a:t>
            </a:r>
          </a:p>
          <a:p>
            <a:r>
              <a:rPr lang="en-IN" sz="1600" dirty="0">
                <a:latin typeface="Consolas" panose="020B0609020204030204" pitchFamily="49" charset="0"/>
                <a:cs typeface="Consolas" panose="020B0609020204030204" pitchFamily="49" charset="0"/>
              </a:rPr>
              <a:t>   SUM(CASE WHEN preceding_downgrade_flag = 'True' THEN 1 ELSE 0 END) AS churn_after_downgrade,</a:t>
            </a:r>
          </a:p>
          <a:p>
            <a:r>
              <a:rPr lang="en-IN" sz="1600" dirty="0">
                <a:latin typeface="Consolas" panose="020B0609020204030204" pitchFamily="49" charset="0"/>
                <a:cs typeface="Consolas" panose="020B0609020204030204" pitchFamily="49" charset="0"/>
              </a:rPr>
              <a:t>   SUM(CASE WHEN is_reactivation = 'True' THEN 1 ELSE 0 END) AS reactivated_accounts</a:t>
            </a:r>
          </a:p>
          <a:p>
            <a:r>
              <a:rPr lang="en-IN" sz="1600" dirty="0">
                <a:latin typeface="Consolas" panose="020B0609020204030204" pitchFamily="49" charset="0"/>
                <a:cs typeface="Consolas" panose="020B0609020204030204" pitchFamily="49" charset="0"/>
              </a:rPr>
              <a:t>FROM churn_events</a:t>
            </a:r>
          </a:p>
          <a:p>
            <a:r>
              <a:rPr lang="en-IN" sz="1600" dirty="0">
                <a:latin typeface="Consolas" panose="020B0609020204030204" pitchFamily="49" charset="0"/>
                <a:cs typeface="Consolas" panose="020B0609020204030204" pitchFamily="49" charset="0"/>
              </a:rPr>
              <a:t>GROUP BY reason_code</a:t>
            </a:r>
          </a:p>
          <a:p>
            <a:r>
              <a:rPr lang="en-IN" sz="1600" dirty="0">
                <a:latin typeface="Consolas" panose="020B0609020204030204" pitchFamily="49" charset="0"/>
                <a:cs typeface="Consolas" panose="020B0609020204030204" pitchFamily="49" charset="0"/>
              </a:rPr>
              <a:t>ORDER BY total_churn_events DESC;</a:t>
            </a:r>
          </a:p>
          <a:p>
            <a:br>
              <a:rPr lang="en-IN" sz="1600" dirty="0">
                <a:latin typeface="Consolas" panose="020B0609020204030204" pitchFamily="49" charset="0"/>
                <a:cs typeface="Consolas" panose="020B0609020204030204" pitchFamily="49" charset="0"/>
              </a:rPr>
            </a:br>
            <a:endParaRPr lang="en-IN" sz="1600" b="0" dirty="0">
              <a:effectLst/>
              <a:latin typeface="Consolas" panose="020B0609020204030204" pitchFamily="49" charset="0"/>
              <a:cs typeface="Consolas" panose="020B0609020204030204" pitchFamily="49" charset="0"/>
            </a:endParaRPr>
          </a:p>
        </p:txBody>
      </p:sp>
      <p:pic>
        <p:nvPicPr>
          <p:cNvPr id="12290" name="Picture 2">
            <a:extLst>
              <a:ext uri="{FF2B5EF4-FFF2-40B4-BE49-F238E27FC236}">
                <a16:creationId xmlns:a16="http://schemas.microsoft.com/office/drawing/2014/main" id="{8E0C0CF3-05F6-EC82-244A-B51A611AC6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8989" y="3429000"/>
            <a:ext cx="7924800" cy="177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8FAD286-50B8-829D-91C7-7B21C94E3D67}"/>
              </a:ext>
            </a:extLst>
          </p:cNvPr>
          <p:cNvSpPr txBox="1"/>
          <p:nvPr/>
        </p:nvSpPr>
        <p:spPr>
          <a:xfrm>
            <a:off x="0" y="5538142"/>
            <a:ext cx="12468478" cy="1200329"/>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Churn is driven by a mix of pricing, usability, and unmet expectations, with some users even </a:t>
            </a:r>
          </a:p>
          <a:p>
            <a:r>
              <a:rPr lang="en-IN" dirty="0">
                <a:latin typeface="Consolas" panose="020B0609020204030204" pitchFamily="49" charset="0"/>
                <a:cs typeface="Consolas" panose="020B0609020204030204" pitchFamily="49" charset="0"/>
              </a:rPr>
              <a:t>churning after upgrades, indicating possible expectation gaps. While several churn reasons are </a:t>
            </a:r>
          </a:p>
          <a:p>
            <a:r>
              <a:rPr lang="en-IN" dirty="0">
                <a:latin typeface="Consolas" panose="020B0609020204030204" pitchFamily="49" charset="0"/>
                <a:cs typeface="Consolas" panose="020B0609020204030204" pitchFamily="49" charset="0"/>
              </a:rPr>
              <a:t>identifiable, a significant portion falls under “Unknown,” highlighting the limitations of churn </a:t>
            </a:r>
          </a:p>
          <a:p>
            <a:r>
              <a:rPr lang="en-IN" dirty="0">
                <a:latin typeface="Consolas" panose="020B0609020204030204" pitchFamily="49" charset="0"/>
                <a:cs typeface="Consolas" panose="020B0609020204030204" pitchFamily="49" charset="0"/>
              </a:rPr>
              <a:t>attribution and the need for better customer feedback capture.</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2282658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0D3EC6-D0A1-8AC8-D06F-8F35474F42D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DD6A10-5BF6-E365-33F8-18DC8CBCA4C4}"/>
              </a:ext>
            </a:extLst>
          </p:cNvPr>
          <p:cNvSpPr txBox="1"/>
          <p:nvPr/>
        </p:nvSpPr>
        <p:spPr>
          <a:xfrm>
            <a:off x="653505" y="551204"/>
            <a:ext cx="6136616" cy="369332"/>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13. Churned vs Active User Behaviour Comparison</a:t>
            </a:r>
            <a:endParaRPr lang="en-IN" dirty="0">
              <a:effectLst/>
              <a:latin typeface="Consolas" panose="020B0609020204030204" pitchFamily="49" charset="0"/>
              <a:cs typeface="Consolas" panose="020B0609020204030204" pitchFamily="49" charset="0"/>
            </a:endParaRPr>
          </a:p>
        </p:txBody>
      </p:sp>
      <p:sp>
        <p:nvSpPr>
          <p:cNvPr id="7" name="TextBox 6">
            <a:extLst>
              <a:ext uri="{FF2B5EF4-FFF2-40B4-BE49-F238E27FC236}">
                <a16:creationId xmlns:a16="http://schemas.microsoft.com/office/drawing/2014/main" id="{890DE44B-F1BD-09E7-53E2-7047969DCF57}"/>
              </a:ext>
            </a:extLst>
          </p:cNvPr>
          <p:cNvSpPr txBox="1"/>
          <p:nvPr/>
        </p:nvSpPr>
        <p:spPr>
          <a:xfrm>
            <a:off x="0" y="1393620"/>
            <a:ext cx="6917278" cy="3539430"/>
          </a:xfrm>
          <a:prstGeom prst="rect">
            <a:avLst/>
          </a:prstGeom>
          <a:noFill/>
        </p:spPr>
        <p:txBody>
          <a:bodyPr wrap="none" rtlCol="0">
            <a:spAutoFit/>
          </a:bodyPr>
          <a:lstStyle/>
          <a:p>
            <a:r>
              <a:rPr lang="en-IN" sz="1600" dirty="0">
                <a:latin typeface="Consolas" panose="020B0609020204030204" pitchFamily="49" charset="0"/>
                <a:cs typeface="Consolas" panose="020B0609020204030204" pitchFamily="49" charset="0"/>
              </a:rPr>
              <a:t>SELECT</a:t>
            </a:r>
          </a:p>
          <a:p>
            <a:r>
              <a:rPr lang="en-IN" sz="1600" dirty="0">
                <a:latin typeface="Consolas" panose="020B0609020204030204" pitchFamily="49" charset="0"/>
                <a:cs typeface="Consolas" panose="020B0609020204030204" pitchFamily="49" charset="0"/>
              </a:rPr>
              <a:t>   CASE</a:t>
            </a:r>
          </a:p>
          <a:p>
            <a:r>
              <a:rPr lang="en-IN" sz="1600" dirty="0">
                <a:latin typeface="Consolas" panose="020B0609020204030204" pitchFamily="49" charset="0"/>
                <a:cs typeface="Consolas" panose="020B0609020204030204" pitchFamily="49" charset="0"/>
              </a:rPr>
              <a:t>       WHEN s.churn_flag = TRUE THEN 'Churned'</a:t>
            </a:r>
          </a:p>
          <a:p>
            <a:r>
              <a:rPr lang="en-IN" sz="1600" dirty="0">
                <a:latin typeface="Consolas" panose="020B0609020204030204" pitchFamily="49" charset="0"/>
                <a:cs typeface="Consolas" panose="020B0609020204030204" pitchFamily="49" charset="0"/>
              </a:rPr>
              <a:t>       ELSE 'Active'</a:t>
            </a:r>
          </a:p>
          <a:p>
            <a:r>
              <a:rPr lang="en-IN" sz="1600" dirty="0">
                <a:latin typeface="Consolas" panose="020B0609020204030204" pitchFamily="49" charset="0"/>
                <a:cs typeface="Consolas" panose="020B0609020204030204" pitchFamily="49" charset="0"/>
              </a:rPr>
              <a:t>   END AS account_status,</a:t>
            </a:r>
          </a:p>
          <a:p>
            <a:r>
              <a:rPr lang="en-IN" sz="1600" dirty="0">
                <a:latin typeface="Consolas" panose="020B0609020204030204" pitchFamily="49" charset="0"/>
                <a:cs typeface="Consolas" panose="020B0609020204030204" pitchFamily="49" charset="0"/>
              </a:rPr>
              <a:t>   COUNT(DISTINCT s.subscription_id) AS total_subscriptions,</a:t>
            </a:r>
          </a:p>
          <a:p>
            <a:r>
              <a:rPr lang="en-IN" sz="1600" dirty="0">
                <a:latin typeface="Consolas" panose="020B0609020204030204" pitchFamily="49" charset="0"/>
                <a:cs typeface="Consolas" panose="020B0609020204030204" pitchFamily="49" charset="0"/>
              </a:rPr>
              <a:t>   AVG(f.usage_count) AS avg_feature_usage,</a:t>
            </a:r>
          </a:p>
          <a:p>
            <a:r>
              <a:rPr lang="en-IN" sz="1600" dirty="0">
                <a:latin typeface="Consolas" panose="020B0609020204030204" pitchFamily="49" charset="0"/>
                <a:cs typeface="Consolas" panose="020B0609020204030204" pitchFamily="49" charset="0"/>
              </a:rPr>
              <a:t>   AVG(f.error_count) AS avg_error_count</a:t>
            </a:r>
          </a:p>
          <a:p>
            <a:r>
              <a:rPr lang="en-IN" sz="1600" dirty="0">
                <a:latin typeface="Consolas" panose="020B0609020204030204" pitchFamily="49" charset="0"/>
                <a:cs typeface="Consolas" panose="020B0609020204030204" pitchFamily="49" charset="0"/>
              </a:rPr>
              <a:t>FROM subscriptions s</a:t>
            </a:r>
          </a:p>
          <a:p>
            <a:r>
              <a:rPr lang="en-IN" sz="1600" dirty="0">
                <a:latin typeface="Consolas" panose="020B0609020204030204" pitchFamily="49" charset="0"/>
                <a:cs typeface="Consolas" panose="020B0609020204030204" pitchFamily="49" charset="0"/>
              </a:rPr>
              <a:t>LEFT JOIN feature_usage f</a:t>
            </a:r>
          </a:p>
          <a:p>
            <a:r>
              <a:rPr lang="en-IN" sz="1600" dirty="0">
                <a:latin typeface="Consolas" panose="020B0609020204030204" pitchFamily="49" charset="0"/>
                <a:cs typeface="Consolas" panose="020B0609020204030204" pitchFamily="49" charset="0"/>
              </a:rPr>
              <a:t>   ON s.subscription_id = f.subscription_id</a:t>
            </a:r>
          </a:p>
          <a:p>
            <a:r>
              <a:rPr lang="en-IN" sz="1600" dirty="0">
                <a:latin typeface="Consolas" panose="020B0609020204030204" pitchFamily="49" charset="0"/>
                <a:cs typeface="Consolas" panose="020B0609020204030204" pitchFamily="49" charset="0"/>
              </a:rPr>
              <a:t>GROUP BY account_status;</a:t>
            </a:r>
          </a:p>
          <a:p>
            <a:br>
              <a:rPr lang="en-IN" sz="1600" dirty="0">
                <a:latin typeface="Consolas" panose="020B0609020204030204" pitchFamily="49" charset="0"/>
                <a:cs typeface="Consolas" panose="020B0609020204030204" pitchFamily="49" charset="0"/>
              </a:rPr>
            </a:br>
            <a:endParaRPr lang="en-IN" sz="1600" b="0" dirty="0">
              <a:effectLst/>
              <a:latin typeface="Consolas" panose="020B0609020204030204" pitchFamily="49" charset="0"/>
              <a:cs typeface="Consolas" panose="020B0609020204030204" pitchFamily="49" charset="0"/>
            </a:endParaRPr>
          </a:p>
        </p:txBody>
      </p:sp>
      <p:sp>
        <p:nvSpPr>
          <p:cNvPr id="4" name="TextBox 3">
            <a:extLst>
              <a:ext uri="{FF2B5EF4-FFF2-40B4-BE49-F238E27FC236}">
                <a16:creationId xmlns:a16="http://schemas.microsoft.com/office/drawing/2014/main" id="{5DD1A898-7394-7B79-C9DC-FEDF8B1A1B95}"/>
              </a:ext>
            </a:extLst>
          </p:cNvPr>
          <p:cNvSpPr txBox="1"/>
          <p:nvPr/>
        </p:nvSpPr>
        <p:spPr>
          <a:xfrm>
            <a:off x="0" y="933518"/>
            <a:ext cx="8034957" cy="1015663"/>
          </a:xfrm>
          <a:prstGeom prst="rect">
            <a:avLst/>
          </a:prstGeom>
          <a:noFill/>
        </p:spPr>
        <p:txBody>
          <a:bodyPr wrap="none" rtlCol="0">
            <a:spAutoFit/>
          </a:bodyPr>
          <a:lstStyle/>
          <a:p>
            <a:r>
              <a:rPr lang="en-IN" sz="2000" b="1" dirty="0">
                <a:latin typeface="Calibri" panose="020F0502020204030204" pitchFamily="34" charset="0"/>
                <a:cs typeface="Calibri" panose="020F0502020204030204" pitchFamily="34" charset="0"/>
              </a:rPr>
              <a:t> How does product engagement differ between churned and active users?</a:t>
            </a:r>
          </a:p>
          <a:p>
            <a:br>
              <a:rPr lang="en-IN" sz="2000" b="1" dirty="0">
                <a:latin typeface="Calibri" panose="020F0502020204030204" pitchFamily="34" charset="0"/>
                <a:cs typeface="Calibri" panose="020F0502020204030204" pitchFamily="34" charset="0"/>
              </a:rPr>
            </a:br>
            <a:endParaRPr lang="en-US" sz="2000" b="1" dirty="0">
              <a:latin typeface="Calibri" panose="020F0502020204030204" pitchFamily="34" charset="0"/>
              <a:cs typeface="Calibri" panose="020F0502020204030204" pitchFamily="34" charset="0"/>
            </a:endParaRPr>
          </a:p>
        </p:txBody>
      </p:sp>
      <p:pic>
        <p:nvPicPr>
          <p:cNvPr id="14338" name="Picture 2">
            <a:extLst>
              <a:ext uri="{FF2B5EF4-FFF2-40B4-BE49-F238E27FC236}">
                <a16:creationId xmlns:a16="http://schemas.microsoft.com/office/drawing/2014/main" id="{D399A1F5-8C49-A30A-F8A3-F4A9FDA714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46921" y="2983182"/>
            <a:ext cx="7052930" cy="13335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E53798F-8159-35E8-0F08-BF9B0666B93C}"/>
              </a:ext>
            </a:extLst>
          </p:cNvPr>
          <p:cNvSpPr txBox="1"/>
          <p:nvPr/>
        </p:nvSpPr>
        <p:spPr>
          <a:xfrm>
            <a:off x="0" y="5393152"/>
            <a:ext cx="12088566" cy="1200329"/>
          </a:xfrm>
          <a:prstGeom prst="rect">
            <a:avLst/>
          </a:prstGeom>
          <a:noFill/>
        </p:spPr>
        <p:txBody>
          <a:bodyPr wrap="none" rtlCol="0">
            <a:spAutoFit/>
          </a:bodyPr>
          <a:lstStyle/>
          <a:p>
            <a:r>
              <a:rPr lang="en-IN" dirty="0">
                <a:latin typeface="Consolas" panose="020B0609020204030204" pitchFamily="49" charset="0"/>
                <a:cs typeface="Consolas" panose="020B0609020204030204" pitchFamily="49" charset="0"/>
              </a:rPr>
              <a:t>Since active subscriptions make up the majority of the dataset, they naturally account for a </a:t>
            </a:r>
          </a:p>
          <a:p>
            <a:r>
              <a:rPr lang="en-IN" dirty="0">
                <a:latin typeface="Consolas" panose="020B0609020204030204" pitchFamily="49" charset="0"/>
                <a:cs typeface="Consolas" panose="020B0609020204030204" pitchFamily="49" charset="0"/>
              </a:rPr>
              <a:t>larger share of support interactions and product activity. Churned and active users show very </a:t>
            </a:r>
          </a:p>
          <a:p>
            <a:r>
              <a:rPr lang="en-IN" dirty="0">
                <a:latin typeface="Consolas" panose="020B0609020204030204" pitchFamily="49" charset="0"/>
                <a:cs typeface="Consolas" panose="020B0609020204030204" pitchFamily="49" charset="0"/>
              </a:rPr>
              <a:t>similar engagement patterns, suggesting that churn may be influenced more by perceived value, </a:t>
            </a:r>
          </a:p>
          <a:p>
            <a:r>
              <a:rPr lang="en-IN" dirty="0">
                <a:latin typeface="Consolas" panose="020B0609020204030204" pitchFamily="49" charset="0"/>
                <a:cs typeface="Consolas" panose="020B0609020204030204" pitchFamily="49" charset="0"/>
              </a:rPr>
              <a:t>pricing, or external factors than by raw product usage alone.</a:t>
            </a:r>
            <a:endParaRPr lang="en-US" dirty="0">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8093876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321455B-D044-9C11-2D92-76D9A6EAD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858E6C-C1EF-6090-9B0F-AAAF9755C70D}"/>
              </a:ext>
            </a:extLst>
          </p:cNvPr>
          <p:cNvSpPr>
            <a:spLocks noGrp="1"/>
          </p:cNvSpPr>
          <p:nvPr>
            <p:ph type="title"/>
          </p:nvPr>
        </p:nvSpPr>
        <p:spPr>
          <a:xfrm>
            <a:off x="838200" y="-218111"/>
            <a:ext cx="10515600" cy="1210457"/>
          </a:xfrm>
        </p:spPr>
        <p:txBody>
          <a:bodyPr>
            <a:noAutofit/>
          </a:bodyPr>
          <a:lstStyle/>
          <a:p>
            <a:pPr algn="ctr"/>
            <a:r>
              <a:rPr lang="en-IN" sz="2800" b="1" dirty="0">
                <a:latin typeface="Calibri" panose="020F0502020204030204" pitchFamily="34" charset="0"/>
                <a:cs typeface="Calibri" panose="020F0502020204030204" pitchFamily="34" charset="0"/>
              </a:rPr>
              <a:t>Key Business Insights</a:t>
            </a:r>
            <a:endParaRPr lang="en-IN" sz="28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90F8FE5-30D2-3E57-E0E1-A1AFDD71B648}"/>
              </a:ext>
            </a:extLst>
          </p:cNvPr>
          <p:cNvSpPr txBox="1"/>
          <p:nvPr/>
        </p:nvSpPr>
        <p:spPr>
          <a:xfrm>
            <a:off x="96601" y="783772"/>
            <a:ext cx="11998798" cy="2215991"/>
          </a:xfrm>
          <a:prstGeom prst="rect">
            <a:avLst/>
          </a:prstGeom>
          <a:noFill/>
        </p:spPr>
        <p:txBody>
          <a:bodyPr wrap="none" rtlCol="0">
            <a:spAutoFit/>
          </a:bodyPr>
          <a:lstStyle/>
          <a:p>
            <a:pPr marL="285750" indent="-285750">
              <a:buFont typeface="Wingdings" pitchFamily="2" charset="2"/>
              <a:buChar char="Ø"/>
            </a:pPr>
            <a:r>
              <a:rPr lang="en-IN" sz="2000" dirty="0">
                <a:latin typeface="Ayuthaya" pitchFamily="2" charset="-34"/>
                <a:ea typeface="Ayuthaya" pitchFamily="2" charset="-34"/>
                <a:cs typeface="Ayuthaya" pitchFamily="2" charset="-34"/>
              </a:rPr>
              <a:t>Enterprise plans generated the highest revenue and subscription share. </a:t>
            </a:r>
          </a:p>
          <a:p>
            <a:pPr marL="285750" indent="-285750">
              <a:buFont typeface="Wingdings" pitchFamily="2" charset="2"/>
              <a:buChar char="Ø"/>
            </a:pPr>
            <a:r>
              <a:rPr lang="en-IN" sz="2000" dirty="0">
                <a:latin typeface="Ayuthaya" pitchFamily="2" charset="-34"/>
                <a:ea typeface="Ayuthaya" pitchFamily="2" charset="-34"/>
                <a:cs typeface="Ayuthaya" pitchFamily="2" charset="-34"/>
              </a:rPr>
              <a:t>Beta feature users showed stronger retention behaviour.</a:t>
            </a:r>
          </a:p>
          <a:p>
            <a:pPr marL="285750" indent="-285750">
              <a:buFont typeface="Wingdings" pitchFamily="2" charset="2"/>
              <a:buChar char="Ø"/>
            </a:pPr>
            <a:r>
              <a:rPr lang="en-IN" sz="2000" dirty="0">
                <a:latin typeface="Ayuthaya" pitchFamily="2" charset="-34"/>
                <a:ea typeface="Ayuthaya" pitchFamily="2" charset="-34"/>
                <a:cs typeface="Ayuthaya" pitchFamily="2" charset="-34"/>
              </a:rPr>
              <a:t>Trial-to-paid conversion remained stable across plan tiers. </a:t>
            </a:r>
          </a:p>
          <a:p>
            <a:pPr marL="285750" indent="-285750">
              <a:buFont typeface="Wingdings" pitchFamily="2" charset="2"/>
              <a:buChar char="Ø"/>
            </a:pPr>
            <a:r>
              <a:rPr lang="en-IN" sz="2000" dirty="0">
                <a:latin typeface="Ayuthaya" pitchFamily="2" charset="-34"/>
                <a:ea typeface="Ayuthaya" pitchFamily="2" charset="-34"/>
                <a:cs typeface="Ayuthaya" pitchFamily="2" charset="-34"/>
              </a:rPr>
              <a:t>Support metrics alone did not strongly explain churn. </a:t>
            </a:r>
          </a:p>
          <a:p>
            <a:pPr marL="285750" indent="-285750">
              <a:buFont typeface="Wingdings" pitchFamily="2" charset="2"/>
              <a:buChar char="Ø"/>
            </a:pPr>
            <a:r>
              <a:rPr lang="en-IN" sz="2000" dirty="0">
                <a:latin typeface="Ayuthaya" pitchFamily="2" charset="-34"/>
                <a:ea typeface="Ayuthaya" pitchFamily="2" charset="-34"/>
                <a:cs typeface="Ayuthaya" pitchFamily="2" charset="-34"/>
              </a:rPr>
              <a:t>Churned and active users displayed similar engagement patterns. </a:t>
            </a:r>
          </a:p>
          <a:p>
            <a:pPr marL="285750" indent="-285750">
              <a:buFont typeface="Wingdings" pitchFamily="2" charset="2"/>
              <a:buChar char="Ø"/>
            </a:pPr>
            <a:r>
              <a:rPr lang="en-IN" sz="2000" dirty="0">
                <a:latin typeface="Ayuthaya" pitchFamily="2" charset="-34"/>
                <a:ea typeface="Ayuthaya" pitchFamily="2" charset="-34"/>
                <a:cs typeface="Ayuthaya" pitchFamily="2" charset="-34"/>
              </a:rPr>
              <a:t>Retention appears influenced by perceived value beyond raw activity levels </a:t>
            </a:r>
          </a:p>
          <a:p>
            <a:endParaRPr lang="en-US" dirty="0"/>
          </a:p>
        </p:txBody>
      </p:sp>
      <p:sp>
        <p:nvSpPr>
          <p:cNvPr id="8" name="TextBox 7">
            <a:extLst>
              <a:ext uri="{FF2B5EF4-FFF2-40B4-BE49-F238E27FC236}">
                <a16:creationId xmlns:a16="http://schemas.microsoft.com/office/drawing/2014/main" id="{AEF37A0D-5595-F4E2-E0EA-0852F1FE2E9A}"/>
              </a:ext>
            </a:extLst>
          </p:cNvPr>
          <p:cNvSpPr txBox="1"/>
          <p:nvPr/>
        </p:nvSpPr>
        <p:spPr>
          <a:xfrm>
            <a:off x="4622968" y="2905780"/>
            <a:ext cx="2946063" cy="523220"/>
          </a:xfrm>
          <a:prstGeom prst="rect">
            <a:avLst/>
          </a:prstGeom>
          <a:noFill/>
        </p:spPr>
        <p:txBody>
          <a:bodyPr wrap="none" rtlCol="0">
            <a:spAutoFit/>
          </a:bodyPr>
          <a:lstStyle/>
          <a:p>
            <a:r>
              <a:rPr lang="en-IN" sz="2800" b="1" dirty="0">
                <a:latin typeface="Calibri" panose="020F0502020204030204" pitchFamily="34" charset="0"/>
                <a:cs typeface="Calibri" panose="020F0502020204030204" pitchFamily="34" charset="0"/>
              </a:rPr>
              <a:t>Tools &amp; Skills Used</a:t>
            </a:r>
            <a:endParaRPr lang="en-US" sz="2800" b="1"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3ED8D3C0-CA89-3020-6A0A-683C0A3EDFE1}"/>
              </a:ext>
            </a:extLst>
          </p:cNvPr>
          <p:cNvSpPr txBox="1"/>
          <p:nvPr/>
        </p:nvSpPr>
        <p:spPr>
          <a:xfrm>
            <a:off x="96601" y="3710284"/>
            <a:ext cx="3119765" cy="1846659"/>
          </a:xfrm>
          <a:prstGeom prst="rect">
            <a:avLst/>
          </a:prstGeom>
          <a:noFill/>
        </p:spPr>
        <p:txBody>
          <a:bodyPr wrap="none" rtlCol="0">
            <a:spAutoFit/>
          </a:bodyPr>
          <a:lstStyle/>
          <a:p>
            <a:r>
              <a:rPr lang="en-IN" sz="1600" dirty="0">
                <a:latin typeface="Ayuthaya" pitchFamily="2" charset="-34"/>
                <a:ea typeface="Ayuthaya" pitchFamily="2" charset="-34"/>
                <a:cs typeface="Ayuthaya" pitchFamily="2" charset="-34"/>
              </a:rPr>
              <a:t>Tools</a:t>
            </a:r>
          </a:p>
          <a:p>
            <a:endParaRPr lang="en-IN" sz="1600" dirty="0">
              <a:latin typeface="Ayuthaya" pitchFamily="2" charset="-34"/>
              <a:ea typeface="Ayuthaya" pitchFamily="2" charset="-34"/>
              <a:cs typeface="Ayuthaya" pitchFamily="2" charset="-34"/>
            </a:endParaRPr>
          </a:p>
          <a:p>
            <a:pPr marL="342900" indent="-342900">
              <a:buFont typeface="Arial" panose="020B0604020202020204" pitchFamily="34" charset="0"/>
              <a:buChar char="•"/>
            </a:pPr>
            <a:r>
              <a:rPr lang="en-IN" sz="1600" i="1" u="sng" dirty="0">
                <a:latin typeface="Ayuthaya" pitchFamily="2" charset="-34"/>
                <a:ea typeface="Ayuthaya" pitchFamily="2" charset="-34"/>
                <a:cs typeface="Ayuthaya" pitchFamily="2" charset="-34"/>
              </a:rPr>
              <a:t>PostgreSQL </a:t>
            </a:r>
          </a:p>
          <a:p>
            <a:pPr marL="342900" indent="-342900">
              <a:buFont typeface="Arial" panose="020B0604020202020204" pitchFamily="34" charset="0"/>
              <a:buChar char="•"/>
            </a:pPr>
            <a:r>
              <a:rPr lang="en-IN" sz="1600" i="1" u="sng" dirty="0">
                <a:latin typeface="Ayuthaya" pitchFamily="2" charset="-34"/>
                <a:ea typeface="Ayuthaya" pitchFamily="2" charset="-34"/>
                <a:cs typeface="Ayuthaya" pitchFamily="2" charset="-34"/>
              </a:rPr>
              <a:t>Microsoft PowerPoint </a:t>
            </a:r>
          </a:p>
          <a:p>
            <a:pPr marL="342900" indent="-342900">
              <a:buFont typeface="Arial" panose="020B0604020202020204" pitchFamily="34" charset="0"/>
              <a:buChar char="•"/>
            </a:pPr>
            <a:r>
              <a:rPr lang="en-IN" sz="1600" i="1" u="sng" dirty="0">
                <a:latin typeface="Ayuthaya" pitchFamily="2" charset="-34"/>
                <a:ea typeface="Ayuthaya" pitchFamily="2" charset="-34"/>
                <a:cs typeface="Ayuthaya" pitchFamily="2" charset="-34"/>
              </a:rPr>
              <a:t>Microsoft Excel</a:t>
            </a:r>
          </a:p>
          <a:p>
            <a:pPr marL="342900" indent="-342900">
              <a:buFont typeface="Arial" panose="020B0604020202020204" pitchFamily="34" charset="0"/>
              <a:buChar char="•"/>
            </a:pPr>
            <a:r>
              <a:rPr lang="en-IN" sz="1600" i="1" u="sng" dirty="0">
                <a:latin typeface="Ayuthaya" pitchFamily="2" charset="-34"/>
                <a:ea typeface="Ayuthaya" pitchFamily="2" charset="-34"/>
                <a:cs typeface="Ayuthaya" pitchFamily="2" charset="-34"/>
              </a:rPr>
              <a:t>pgAdmin </a:t>
            </a:r>
          </a:p>
          <a:p>
            <a:endParaRPr lang="en-US" dirty="0">
              <a:latin typeface="Ayuthaya" pitchFamily="2" charset="-34"/>
              <a:ea typeface="Ayuthaya" pitchFamily="2" charset="-34"/>
              <a:cs typeface="Ayuthaya" pitchFamily="2" charset="-34"/>
            </a:endParaRPr>
          </a:p>
        </p:txBody>
      </p:sp>
      <p:sp>
        <p:nvSpPr>
          <p:cNvPr id="10" name="TextBox 9">
            <a:extLst>
              <a:ext uri="{FF2B5EF4-FFF2-40B4-BE49-F238E27FC236}">
                <a16:creationId xmlns:a16="http://schemas.microsoft.com/office/drawing/2014/main" id="{9C9989A3-F088-14E9-EBB4-D177F86C15AF}"/>
              </a:ext>
            </a:extLst>
          </p:cNvPr>
          <p:cNvSpPr txBox="1"/>
          <p:nvPr/>
        </p:nvSpPr>
        <p:spPr>
          <a:xfrm>
            <a:off x="3493858" y="3710284"/>
            <a:ext cx="4416594" cy="2831544"/>
          </a:xfrm>
          <a:prstGeom prst="rect">
            <a:avLst/>
          </a:prstGeom>
          <a:noFill/>
        </p:spPr>
        <p:txBody>
          <a:bodyPr wrap="none" rtlCol="0">
            <a:spAutoFit/>
          </a:bodyPr>
          <a:lstStyle/>
          <a:p>
            <a:r>
              <a:rPr lang="en-IN" sz="1600" b="1" dirty="0">
                <a:latin typeface="Ayuthaya" pitchFamily="2" charset="-34"/>
                <a:ea typeface="Ayuthaya" pitchFamily="2" charset="-34"/>
                <a:cs typeface="Ayuthaya" pitchFamily="2" charset="-34"/>
              </a:rPr>
              <a:t>Skills</a:t>
            </a:r>
          </a:p>
          <a:p>
            <a:endParaRPr lang="en-US" altLang="en-US" sz="1600" dirty="0">
              <a:latin typeface="Ayuthaya" pitchFamily="2" charset="-34"/>
              <a:ea typeface="Ayuthaya" pitchFamily="2" charset="-34"/>
              <a:cs typeface="Ayuthaya" pitchFamily="2" charset="-34"/>
            </a:endParaRP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SQL Querying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Joins &amp; Relational Modeling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Aggregations &amp; Grouping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CASE Statements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Common Table Expressions (CTEs)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Data Cleaning &amp; Type Casting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Cohort Analysis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DAU / MAU Stickiness Analysis </a:t>
            </a:r>
          </a:p>
          <a:p>
            <a:endParaRPr lang="en-US" dirty="0">
              <a:latin typeface="Ayuthaya" pitchFamily="2" charset="-34"/>
              <a:ea typeface="Ayuthaya" pitchFamily="2" charset="-34"/>
              <a:cs typeface="Ayuthaya" pitchFamily="2" charset="-34"/>
            </a:endParaRPr>
          </a:p>
        </p:txBody>
      </p:sp>
      <p:sp>
        <p:nvSpPr>
          <p:cNvPr id="4" name="TextBox 3">
            <a:extLst>
              <a:ext uri="{FF2B5EF4-FFF2-40B4-BE49-F238E27FC236}">
                <a16:creationId xmlns:a16="http://schemas.microsoft.com/office/drawing/2014/main" id="{2C95A79E-565A-F7BE-9E07-564BE994C863}"/>
              </a:ext>
            </a:extLst>
          </p:cNvPr>
          <p:cNvSpPr txBox="1"/>
          <p:nvPr/>
        </p:nvSpPr>
        <p:spPr>
          <a:xfrm>
            <a:off x="8187945" y="4248892"/>
            <a:ext cx="4174541" cy="2308324"/>
          </a:xfrm>
          <a:prstGeom prst="rect">
            <a:avLst/>
          </a:prstGeom>
          <a:noFill/>
        </p:spPr>
        <p:txBody>
          <a:bodyPr wrap="non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Churn Analysis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Subscription Revenue Analysis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Customer Segmentation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Behavioral Analytics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Product Usage Analysis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Retention Analysis </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KPI Interpretation</a:t>
            </a:r>
          </a:p>
          <a:p>
            <a:pPr marL="285750" lvl="0" indent="-285750" eaLnBrk="0" fontAlgn="base" hangingPunct="0">
              <a:spcBef>
                <a:spcPct val="0"/>
              </a:spcBef>
              <a:spcAft>
                <a:spcPct val="0"/>
              </a:spcAft>
              <a:buFont typeface="Arial" panose="020B0604020202020204" pitchFamily="34" charset="0"/>
              <a:buChar char="•"/>
            </a:pPr>
            <a:r>
              <a:rPr lang="en-US" altLang="en-US" sz="1600" i="1" dirty="0">
                <a:latin typeface="Ayuthaya" pitchFamily="2" charset="-34"/>
                <a:ea typeface="Ayuthaya" pitchFamily="2" charset="-34"/>
                <a:cs typeface="Ayuthaya" pitchFamily="2" charset="-34"/>
              </a:rPr>
              <a:t>Saas Metrics(ARR,MRR)</a:t>
            </a:r>
          </a:p>
          <a:p>
            <a:endParaRPr lang="en-US" sz="1600" dirty="0"/>
          </a:p>
        </p:txBody>
      </p:sp>
    </p:spTree>
    <p:extLst>
      <p:ext uri="{BB962C8B-B14F-4D97-AF65-F5344CB8AC3E}">
        <p14:creationId xmlns:p14="http://schemas.microsoft.com/office/powerpoint/2010/main" val="3225233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242</TotalTime>
  <Words>3179</Words>
  <Application>Microsoft Macintosh PowerPoint</Application>
  <PresentationFormat>Widescreen</PresentationFormat>
  <Paragraphs>385</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Aptos</vt:lpstr>
      <vt:lpstr>Aptos Display</vt:lpstr>
      <vt:lpstr>Arial</vt:lpstr>
      <vt:lpstr>Ayuthaya</vt:lpstr>
      <vt:lpstr>Bell MT</vt:lpstr>
      <vt:lpstr>Calibri</vt:lpstr>
      <vt:lpstr>Consolas</vt:lpstr>
      <vt:lpstr>Wingdings</vt:lpstr>
      <vt:lpstr>Office Theme</vt:lpstr>
      <vt:lpstr>SaaS Product Analytics Case Study</vt:lpstr>
      <vt:lpstr>ABSTRACT</vt:lpstr>
      <vt:lpstr>Dataset Overview</vt:lpstr>
      <vt:lpstr>PowerPoint Presentation</vt:lpstr>
      <vt:lpstr>PowerPoint Presentation</vt:lpstr>
      <vt:lpstr>SECTION 1: REVENUE &amp; MONETIZATION  </vt:lpstr>
      <vt:lpstr>  </vt:lpstr>
      <vt:lpstr>  </vt:lpstr>
      <vt:lpstr>SECTION 2:  CUSTOMER ACQUISITION &amp; CONVERSION   </vt:lpstr>
      <vt:lpstr>SECTION 3:  PRODUCT ENGAGEMENT   </vt:lpstr>
      <vt:lpstr>  </vt:lpstr>
      <vt:lpstr>  </vt:lpstr>
      <vt:lpstr>  </vt:lpstr>
      <vt:lpstr>SECTION 4: CUSTOMER SUPPORT &amp; EXPERIENCE ANALYSIS    </vt:lpstr>
      <vt:lpstr>SECTION 5: RETENTION &amp; GROWTH BEHAVIOR</vt:lpstr>
      <vt:lpstr>PowerPoint Presentation</vt:lpstr>
      <vt:lpstr>PowerPoint Presentation</vt:lpstr>
      <vt:lpstr>SECTION 6: CHURN ANALYSIS</vt:lpstr>
      <vt:lpstr>PowerPoint Presentation</vt:lpstr>
      <vt:lpstr>Key Business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chauhan shreya sanjeev singh</dc:creator>
  <cp:lastModifiedBy>chauhan shreya sanjeev singh</cp:lastModifiedBy>
  <cp:revision>3</cp:revision>
  <dcterms:created xsi:type="dcterms:W3CDTF">2026-05-13T03:25:57Z</dcterms:created>
  <dcterms:modified xsi:type="dcterms:W3CDTF">2026-05-14T21:07:19Z</dcterms:modified>
</cp:coreProperties>
</file>